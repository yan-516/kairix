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17.svg" ContentType="image/svg+xml"/>
  <Override PartName="/ppt/media/image20.svg" ContentType="image/svg+xml"/>
  <Override PartName="/ppt/media/image2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257" r:id="rId3"/>
    <p:sldId id="403" r:id="rId5"/>
    <p:sldId id="486" r:id="rId6"/>
    <p:sldId id="435" r:id="rId7"/>
    <p:sldId id="453" r:id="rId8"/>
    <p:sldId id="431" r:id="rId9"/>
    <p:sldId id="490" r:id="rId10"/>
    <p:sldId id="483" r:id="rId11"/>
    <p:sldId id="388" r:id="rId12"/>
    <p:sldId id="489" r:id="rId13"/>
    <p:sldId id="450" r:id="rId14"/>
    <p:sldId id="434" r:id="rId15"/>
    <p:sldId id="484" r:id="rId16"/>
    <p:sldId id="454" r:id="rId17"/>
    <p:sldId id="460" r:id="rId18"/>
    <p:sldId id="488" r:id="rId19"/>
    <p:sldId id="480" r:id="rId20"/>
    <p:sldId id="477" r:id="rId21"/>
    <p:sldId id="430" r:id="rId22"/>
    <p:sldId id="436" r:id="rId23"/>
    <p:sldId id="371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6695"/>
    <a:srgbClr val="9CC5FD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7" autoAdjust="0"/>
    <p:restoredTop sz="89025" autoAdjust="0"/>
  </p:normalViewPr>
  <p:slideViewPr>
    <p:cSldViewPr snapToGrid="0" showGuides="1">
      <p:cViewPr varScale="1">
        <p:scale>
          <a:sx n="98" d="100"/>
          <a:sy n="98" d="100"/>
        </p:scale>
        <p:origin x="400" y="160"/>
      </p:cViewPr>
      <p:guideLst>
        <p:guide orient="horz" pos="223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jpe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svg"/><Relationship Id="rId3" Type="http://schemas.openxmlformats.org/officeDocument/2006/relationships/image" Target="../media/image18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jpeg"/><Relationship Id="rId3" Type="http://schemas.openxmlformats.org/officeDocument/2006/relationships/tags" Target="../tags/tag5.xml"/><Relationship Id="rId2" Type="http://schemas.openxmlformats.org/officeDocument/2006/relationships/image" Target="../media/image1.png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/>
          <p:cNvPicPr/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03219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/>
          <p:cNvPicPr/>
          <p:nvPr>
            <p:custDataLst>
              <p:tags r:id="rId3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127232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2204967"/>
            <a:ext cx="12192000" cy="28613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79269" y="2522045"/>
            <a:ext cx="10664008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Kairix</a:t>
            </a:r>
            <a:endParaRPr lang="en-US" altLang="zh-CN" sz="60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4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sz="4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的支持</a:t>
            </a:r>
            <a:r>
              <a:rPr lang="en-US" altLang="zh-CN" sz="4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RISC-V64</a:t>
            </a:r>
            <a:r>
              <a:rPr lang="zh-CN" altLang="en-US" sz="4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4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Loongarch64</a:t>
            </a:r>
            <a:r>
              <a:rPr lang="zh-CN" altLang="en-US" sz="4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双架构操作系统</a:t>
            </a:r>
            <a:endParaRPr lang="en-US" altLang="zh-CN" sz="40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63784" y="5388570"/>
            <a:ext cx="645227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3A6695"/>
                </a:solidFill>
              </a:rPr>
              <a:t>队员：颜晨、雷鑫言、</a:t>
            </a:r>
            <a:r>
              <a:rPr lang="zh-CN" altLang="en-US" b="1" dirty="0">
                <a:solidFill>
                  <a:srgbClr val="3A6695"/>
                </a:solidFill>
              </a:rPr>
              <a:t>萧鹏   指导老师：夏文、仇洁婷</a:t>
            </a:r>
            <a:endParaRPr lang="zh-CN" altLang="en-US" b="1" dirty="0">
              <a:solidFill>
                <a:srgbClr val="3A6695"/>
              </a:solidFill>
            </a:endParaRPr>
          </a:p>
        </p:txBody>
      </p:sp>
      <p:pic>
        <p:nvPicPr>
          <p:cNvPr id="3" name="图片 2" descr="hitsz-logo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89555" y="603250"/>
            <a:ext cx="6612255" cy="121856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b="1" smtClean="0">
                <a:solidFill>
                  <a:schemeClr val="tx1"/>
                </a:solidFill>
              </a:rPr>
            </a:fld>
            <a:endParaRPr lang="en-US" altLang="zh-C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9824179" y="26223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11"/>
          <p:cNvSpPr txBox="1"/>
          <p:nvPr/>
        </p:nvSpPr>
        <p:spPr>
          <a:xfrm>
            <a:off x="9945928" y="21678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7373" y="1047718"/>
            <a:ext cx="102127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 algn="l">
              <a:buFont typeface="Wingdings" panose="05000000000000000000" pitchFamily="2" charset="2"/>
              <a:buNone/>
            </a:pPr>
            <a:r>
              <a:rPr lang="zh-CN" altLang="en-US" sz="2400" dirty="0"/>
              <a:t>截止</a:t>
            </a:r>
            <a:r>
              <a:rPr lang="en-US" altLang="zh-CN" sz="2400" dirty="0"/>
              <a:t>8</a:t>
            </a:r>
            <a:r>
              <a:rPr lang="zh-CN" altLang="en-US" sz="2400" dirty="0"/>
              <a:t>月</a:t>
            </a:r>
            <a:r>
              <a:rPr lang="en-US" altLang="zh-CN" sz="2400" dirty="0"/>
              <a:t>15</a:t>
            </a:r>
            <a:r>
              <a:rPr lang="zh-CN" altLang="en-US" sz="2400" dirty="0"/>
              <a:t>日</a:t>
            </a:r>
            <a:r>
              <a:rPr lang="en-US" sz="2400" dirty="0"/>
              <a:t>21</a:t>
            </a:r>
            <a:r>
              <a:rPr lang="zh-CN" altLang="en-US" sz="2400" dirty="0"/>
              <a:t>时</a:t>
            </a:r>
            <a:r>
              <a:rPr lang="en-US" altLang="zh-CN" sz="2400" dirty="0"/>
              <a:t>45</a:t>
            </a:r>
            <a:r>
              <a:rPr lang="zh-CN" altLang="en-US" sz="2400" dirty="0"/>
              <a:t>分，初赛排名和得分详情如下，总分</a:t>
            </a:r>
            <a:r>
              <a:rPr lang="en-US" altLang="zh-CN" sz="2400" b="1" dirty="0"/>
              <a:t>2582</a:t>
            </a:r>
            <a:r>
              <a:rPr lang="zh-CN" altLang="en-US" sz="2400" dirty="0"/>
              <a:t>，排名</a:t>
            </a:r>
            <a:r>
              <a:rPr lang="zh-CN" altLang="en-US" sz="2400" b="1" dirty="0"/>
              <a:t>第三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algn="l"/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b="1" smtClean="0">
                <a:solidFill>
                  <a:schemeClr val="tx1"/>
                </a:solidFill>
              </a:rPr>
            </a:fld>
            <a:endParaRPr lang="en-US" altLang="zh-CN" b="1" dirty="0">
              <a:solidFill>
                <a:schemeClr val="tx1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01449" y="28763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1"/>
          <p:cNvSpPr txBox="1"/>
          <p:nvPr/>
        </p:nvSpPr>
        <p:spPr>
          <a:xfrm>
            <a:off x="8404148" y="216152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85" y="1513840"/>
            <a:ext cx="9276080" cy="43192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9824179" y="26223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11"/>
          <p:cNvSpPr txBox="1"/>
          <p:nvPr/>
        </p:nvSpPr>
        <p:spPr>
          <a:xfrm>
            <a:off x="9945928" y="21678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7373" y="1047718"/>
            <a:ext cx="1167447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 algn="l">
              <a:buFont typeface="Wingdings" panose="05000000000000000000" pitchFamily="2" charset="2"/>
              <a:buNone/>
            </a:pPr>
            <a:r>
              <a:rPr lang="zh-CN" altLang="en-US" sz="2400" dirty="0"/>
              <a:t>截止</a:t>
            </a:r>
            <a:r>
              <a:rPr lang="en-US" altLang="zh-CN" sz="2400" dirty="0"/>
              <a:t>8</a:t>
            </a:r>
            <a:r>
              <a:rPr lang="zh-CN" altLang="en-US" sz="2400" dirty="0"/>
              <a:t>月</a:t>
            </a:r>
            <a:r>
              <a:rPr lang="en-US" altLang="zh-CN" sz="2400" dirty="0"/>
              <a:t>15</a:t>
            </a:r>
            <a:r>
              <a:rPr lang="zh-CN" altLang="en-US" sz="2400" dirty="0"/>
              <a:t>日</a:t>
            </a:r>
            <a:r>
              <a:rPr lang="en-US" sz="2400" dirty="0"/>
              <a:t>21</a:t>
            </a:r>
            <a:r>
              <a:rPr lang="zh-CN" altLang="en-US" sz="2400" dirty="0"/>
              <a:t>时</a:t>
            </a:r>
            <a:r>
              <a:rPr lang="en-US" altLang="zh-CN" sz="2400" dirty="0"/>
              <a:t>45</a:t>
            </a:r>
            <a:r>
              <a:rPr lang="zh-CN" altLang="en-US" sz="2400" dirty="0"/>
              <a:t>分，决赛第一阶段排名和得分详情如下，总分</a:t>
            </a:r>
            <a:r>
              <a:rPr lang="en-US" altLang="zh-CN" sz="2400" b="1" dirty="0"/>
              <a:t>737.30</a:t>
            </a:r>
            <a:r>
              <a:rPr lang="zh-CN" altLang="en-US" sz="2400" dirty="0"/>
              <a:t>，排名</a:t>
            </a:r>
            <a:r>
              <a:rPr lang="zh-CN" altLang="en-US" sz="2400" b="1" dirty="0"/>
              <a:t>第十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algn="l"/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b="1" smtClean="0">
                <a:solidFill>
                  <a:schemeClr val="tx1"/>
                </a:solidFill>
              </a:rPr>
            </a:fld>
            <a:endParaRPr lang="en-US" altLang="zh-CN" b="1" dirty="0">
              <a:solidFill>
                <a:schemeClr val="tx1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01449" y="28763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1"/>
          <p:cNvSpPr txBox="1"/>
          <p:nvPr/>
        </p:nvSpPr>
        <p:spPr>
          <a:xfrm>
            <a:off x="8404148" y="216152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6340"/>
            <a:ext cx="8881745" cy="43605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1745" y="1504315"/>
            <a:ext cx="3178175" cy="20707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7292" y="1017414"/>
            <a:ext cx="26269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Kairix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项目简介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b="1" smtClean="0">
                <a:solidFill>
                  <a:schemeClr val="tx1"/>
                </a:solidFill>
              </a:rPr>
            </a:fld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7225" y="1764835"/>
            <a:ext cx="674169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成员分工：</a:t>
            </a:r>
            <a:endParaRPr lang="en-US" altLang="zh-CN" sz="2000" b="1" dirty="0"/>
          </a:p>
          <a:p>
            <a:endParaRPr lang="en-US" altLang="zh-C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颜晨</a:t>
            </a:r>
            <a:r>
              <a:rPr lang="zh-CN" altLang="en-US" sz="2000" dirty="0"/>
              <a:t>：文件系统、异常机制、进程调度</a:t>
            </a:r>
            <a:endParaRPr lang="zh-CN" alt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雷鑫言</a:t>
            </a:r>
            <a:r>
              <a:rPr lang="zh-CN" altLang="en-US" sz="2000" dirty="0"/>
              <a:t>：内存管理、内存多架构实现</a:t>
            </a:r>
            <a:endParaRPr lang="zh-CN" alt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dirty="0"/>
              <a:t>萧鹏</a:t>
            </a:r>
            <a:r>
              <a:rPr lang="zh-CN" altLang="en-US" sz="2000" dirty="0"/>
              <a:t>：信号、进程间通信、网络</a:t>
            </a:r>
            <a:endParaRPr lang="zh-CN" altLang="en-US" sz="2000" dirty="0"/>
          </a:p>
        </p:txBody>
      </p:sp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5156835" y="887730"/>
          <a:ext cx="6739255" cy="5833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505"/>
                <a:gridCol w="511175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模块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完成情况</a:t>
                      </a:r>
                      <a:endParaRPr lang="zh-CN" altLang="en-US"/>
                    </a:p>
                  </a:txBody>
                  <a:tcPr/>
                </a:tc>
              </a:tr>
              <a:tr h="530225"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buNone/>
                      </a:pPr>
                      <a:r>
                        <a:rPr lang="zh-CN" altLang="en-US"/>
                        <a:t>进程管理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60000"/>
                        </a:lnSpc>
                        <a:buNone/>
                      </a:pPr>
                      <a:r>
                        <a:rPr lang="zh-CN" altLang="en-US"/>
                        <a:t>有栈协程、多核调度。进程线程分离设计。</a:t>
                      </a:r>
                      <a:endParaRPr lang="zh-CN" altLang="en-US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 algn="ctr">
                        <a:lnSpc>
                          <a:spcPct val="240000"/>
                        </a:lnSpc>
                        <a:buNone/>
                      </a:pPr>
                      <a:r>
                        <a:rPr lang="zh-CN" altLang="en-US"/>
                        <a:t>内存管理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内核空间动态映射、缺页异常驱动的懒分配、写时复制、支持零页分配、用户指针检查、动态链接、共享内存映射。</a:t>
                      </a:r>
                      <a:endParaRPr lang="zh-CN" altLang="en-US"/>
                    </a:p>
                  </a:txBody>
                  <a:tcPr/>
                </a:tc>
              </a:tr>
              <a:tr h="1188720">
                <a:tc>
                  <a:txBody>
                    <a:bodyPr/>
                    <a:p>
                      <a:pPr algn="ctr">
                        <a:lnSpc>
                          <a:spcPct val="310000"/>
                        </a:lnSpc>
                        <a:buNone/>
                      </a:pPr>
                      <a:r>
                        <a:rPr lang="zh-CN" altLang="en-US"/>
                        <a:t>文件系统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类 </a:t>
                      </a:r>
                      <a:r>
                        <a:rPr lang="en-US" altLang="zh-CN"/>
                        <a:t>Linux </a:t>
                      </a:r>
                      <a:r>
                        <a:rPr lang="zh-CN" altLang="en-US"/>
                        <a:t>的虚拟文件系统、路径解析缓存、页缓存加速、延迟写、支持挂载、支持</a:t>
                      </a:r>
                      <a:r>
                        <a:rPr lang="en-US" altLang="zh-CN"/>
                        <a:t>Ext4</a:t>
                      </a:r>
                      <a:r>
                        <a:rPr lang="zh-CN" altLang="en-US"/>
                        <a:t>磁盘文件系统，内存文件系统、进程文件系统、设备文件系统。</a:t>
                      </a:r>
                      <a:endParaRPr lang="zh-CN" altLang="en-US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 algn="ctr">
                        <a:lnSpc>
                          <a:spcPct val="230000"/>
                        </a:lnSpc>
                        <a:buNone/>
                      </a:pPr>
                      <a:r>
                        <a:rPr lang="zh-CN" altLang="en-US"/>
                        <a:t>信号机制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支持标准信号与实时信号的相关接口、支持用户自定义信号处理、线程信号掩码、同步异常信号投递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lnSpc>
                          <a:spcPct val="170000"/>
                        </a:lnSpc>
                        <a:buNone/>
                      </a:pPr>
                      <a:r>
                        <a:rPr lang="zh-CN" altLang="en-US"/>
                        <a:t>设备驱动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支持硬件中断、</a:t>
                      </a:r>
                      <a:r>
                        <a:rPr lang="en-US" altLang="zh-CN"/>
                        <a:t>MMIO</a:t>
                      </a:r>
                      <a:r>
                        <a:rPr lang="zh-CN" altLang="en-US"/>
                        <a:t>驱动、</a:t>
                      </a:r>
                      <a:r>
                        <a:rPr lang="en-US" altLang="zh-CN"/>
                        <a:t>PCI</a:t>
                      </a:r>
                      <a:r>
                        <a:rPr lang="zh-CN" altLang="en-US"/>
                        <a:t>驱动和部分串口驱动、解析部分设备树信息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lnSpc>
                          <a:spcPct val="170000"/>
                        </a:lnSpc>
                        <a:buNone/>
                      </a:pPr>
                      <a:r>
                        <a:rPr lang="zh-CN" altLang="en-US"/>
                        <a:t>网络模块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自研网络栈、支持</a:t>
                      </a:r>
                      <a:r>
                        <a:rPr lang="en-US" altLang="zh-CN"/>
                        <a:t>TCP UDP</a:t>
                      </a:r>
                      <a:r>
                        <a:rPr lang="zh-CN" altLang="en-US"/>
                        <a:t>套接字、支持本地回环设备、支持</a:t>
                      </a:r>
                      <a:r>
                        <a:rPr lang="en-US" altLang="zh-CN"/>
                        <a:t>IPv4</a:t>
                      </a:r>
                      <a:r>
                        <a:rPr lang="zh-CN" altLang="en-US"/>
                        <a:t>协议栈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lnSpc>
                          <a:spcPct val="160000"/>
                        </a:lnSpc>
                        <a:buNone/>
                      </a:pPr>
                      <a:r>
                        <a:rPr lang="zh-CN" altLang="en-US"/>
                        <a:t>架构管理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基于开源多架构硬件抽象层</a:t>
                      </a:r>
                      <a:r>
                        <a:rPr lang="en-US" altLang="zh-CN"/>
                        <a:t>polyhal、</a:t>
                      </a:r>
                      <a:r>
                        <a:rPr lang="zh-CN" altLang="en-US"/>
                        <a:t>支持</a:t>
                      </a:r>
                      <a:r>
                        <a:rPr lang="en-US" altLang="zh-CN"/>
                        <a:t>RISC-V、LoongArch</a:t>
                      </a:r>
                      <a:r>
                        <a:rPr lang="zh-CN" altLang="en-US"/>
                        <a:t>双架构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" name="直接连接符 1"/>
          <p:cNvCxnSpPr/>
          <p:nvPr/>
        </p:nvCxnSpPr>
        <p:spPr>
          <a:xfrm>
            <a:off x="9824179" y="26223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45928" y="21678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301449" y="28763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1"/>
          <p:cNvSpPr txBox="1"/>
          <p:nvPr/>
        </p:nvSpPr>
        <p:spPr>
          <a:xfrm>
            <a:off x="8404148" y="216152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7292" y="1017414"/>
            <a:ext cx="33381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Kairix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内核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整体架构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b="1" smtClean="0">
                <a:solidFill>
                  <a:schemeClr val="tx1"/>
                </a:solidFill>
              </a:rPr>
            </a:fld>
            <a:endParaRPr lang="en-US" altLang="zh-CN" b="1" dirty="0">
              <a:solidFill>
                <a:schemeClr val="tx1"/>
              </a:solidFill>
            </a:endParaRPr>
          </a:p>
        </p:txBody>
      </p:sp>
      <p:pic>
        <p:nvPicPr>
          <p:cNvPr id="2" name="图片 1" descr="整体架构图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23160" y="1579880"/>
            <a:ext cx="7400925" cy="518096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9824179" y="26223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9945928" y="21678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8301449" y="28763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1"/>
          <p:cNvSpPr txBox="1"/>
          <p:nvPr/>
        </p:nvSpPr>
        <p:spPr>
          <a:xfrm>
            <a:off x="8404148" y="216152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4933648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cxnSp>
        <p:nvCxnSpPr>
          <p:cNvPr id="39" name="直接连接符 38"/>
          <p:cNvCxnSpPr/>
          <p:nvPr/>
        </p:nvCxnSpPr>
        <p:spPr>
          <a:xfrm>
            <a:off x="9903554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9"/>
          <p:cNvSpPr txBox="1"/>
          <p:nvPr/>
        </p:nvSpPr>
        <p:spPr>
          <a:xfrm>
            <a:off x="6668694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Box 11"/>
          <p:cNvSpPr txBox="1"/>
          <p:nvPr/>
        </p:nvSpPr>
        <p:spPr>
          <a:xfrm>
            <a:off x="1014532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b="1" smtClean="0">
                <a:solidFill>
                  <a:schemeClr val="tx1"/>
                </a:solidFill>
              </a:rPr>
            </a:fld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30435" y="3155071"/>
            <a:ext cx="633113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Kairix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内核开发历程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076024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11"/>
          <p:cNvSpPr txBox="1"/>
          <p:nvPr/>
        </p:nvSpPr>
        <p:spPr>
          <a:xfrm>
            <a:off x="831779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7595" y="1548205"/>
            <a:ext cx="4060825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搭建时间：约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内核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rust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代码量：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.4w+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commits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数量：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560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292" y="1017414"/>
            <a:ext cx="28873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Kairix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内核工作量：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9824179" y="26223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231850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0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11"/>
          <p:cNvSpPr txBox="1"/>
          <p:nvPr/>
        </p:nvSpPr>
        <p:spPr>
          <a:xfrm>
            <a:off x="9945928" y="21678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8301449" y="28763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11"/>
          <p:cNvSpPr txBox="1"/>
          <p:nvPr/>
        </p:nvSpPr>
        <p:spPr>
          <a:xfrm>
            <a:off x="8404148" y="216152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7143"/>
          <a:stretch>
            <a:fillRect/>
          </a:stretch>
        </p:blipFill>
        <p:spPr>
          <a:xfrm>
            <a:off x="255270" y="3164205"/>
            <a:ext cx="5844540" cy="23850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l="54643" t="11159"/>
          <a:stretch>
            <a:fillRect/>
          </a:stretch>
        </p:blipFill>
        <p:spPr>
          <a:xfrm>
            <a:off x="7160260" y="1477645"/>
            <a:ext cx="4193540" cy="47218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t="11159" r="91902"/>
          <a:stretch>
            <a:fillRect/>
          </a:stretch>
        </p:blipFill>
        <p:spPr>
          <a:xfrm>
            <a:off x="6411595" y="1477645"/>
            <a:ext cx="748665" cy="47218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432333" y="1350168"/>
            <a:ext cx="26269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Kairix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开发历程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4" name="Content Placeholder 2"/>
          <p:cNvSpPr txBox="1"/>
          <p:nvPr/>
        </p:nvSpPr>
        <p:spPr>
          <a:xfrm>
            <a:off x="1044368" y="3931963"/>
            <a:ext cx="2055002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调研</a:t>
            </a:r>
            <a:endParaRPr lang="zh-CN" altLang="en-US" sz="1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5" name="Straight Connector 9"/>
          <p:cNvCxnSpPr/>
          <p:nvPr/>
        </p:nvCxnSpPr>
        <p:spPr>
          <a:xfrm flipH="1">
            <a:off x="2083934" y="2908872"/>
            <a:ext cx="6350" cy="2616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10"/>
          <p:cNvCxnSpPr/>
          <p:nvPr/>
        </p:nvCxnSpPr>
        <p:spPr>
          <a:xfrm>
            <a:off x="3734857" y="2909507"/>
            <a:ext cx="1905" cy="2463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11"/>
          <p:cNvCxnSpPr/>
          <p:nvPr/>
        </p:nvCxnSpPr>
        <p:spPr>
          <a:xfrm flipH="1">
            <a:off x="5510501" y="2908872"/>
            <a:ext cx="6350" cy="27114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1115695" y="2379980"/>
            <a:ext cx="1943735" cy="400050"/>
            <a:chOff x="1326" y="2866"/>
            <a:chExt cx="4529" cy="939"/>
          </a:xfrm>
        </p:grpSpPr>
        <p:sp>
          <p:nvSpPr>
            <p:cNvPr id="70" name="Freeform 790"/>
            <p:cNvSpPr/>
            <p:nvPr/>
          </p:nvSpPr>
          <p:spPr bwMode="auto">
            <a:xfrm>
              <a:off x="1326" y="2866"/>
              <a:ext cx="4529" cy="939"/>
            </a:xfrm>
            <a:custGeom>
              <a:avLst/>
              <a:gdLst>
                <a:gd name="connsiteX0" fmla="*/ 9568 w 10000"/>
                <a:gd name="connsiteY0" fmla="*/ 10000 h 10000"/>
                <a:gd name="connsiteX1" fmla="*/ 4793 w 10000"/>
                <a:gd name="connsiteY1" fmla="*/ 10000 h 10000"/>
                <a:gd name="connsiteX2" fmla="*/ 0 w 10000"/>
                <a:gd name="connsiteY2" fmla="*/ 10000 h 10000"/>
                <a:gd name="connsiteX3" fmla="*/ 1362 w 10000"/>
                <a:gd name="connsiteY3" fmla="*/ 4954 h 10000"/>
                <a:gd name="connsiteX4" fmla="*/ 0 w 10000"/>
                <a:gd name="connsiteY4" fmla="*/ 0 h 10000"/>
                <a:gd name="connsiteX5" fmla="*/ 4793 w 10000"/>
                <a:gd name="connsiteY5" fmla="*/ 0 h 10000"/>
                <a:gd name="connsiteX6" fmla="*/ 9568 w 10000"/>
                <a:gd name="connsiteY6" fmla="*/ 0 h 10000"/>
                <a:gd name="connsiteX7" fmla="*/ 10000 w 10000"/>
                <a:gd name="connsiteY7" fmla="*/ 4954 h 10000"/>
                <a:gd name="connsiteX8" fmla="*/ 9568 w 10000"/>
                <a:gd name="connsiteY8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00" h="10000">
                  <a:moveTo>
                    <a:pt x="9568" y="10000"/>
                  </a:moveTo>
                  <a:lnTo>
                    <a:pt x="4793" y="10000"/>
                  </a:lnTo>
                  <a:lnTo>
                    <a:pt x="0" y="10000"/>
                  </a:lnTo>
                  <a:lnTo>
                    <a:pt x="1362" y="4954"/>
                  </a:lnTo>
                  <a:lnTo>
                    <a:pt x="0" y="0"/>
                  </a:lnTo>
                  <a:lnTo>
                    <a:pt x="4793" y="0"/>
                  </a:lnTo>
                  <a:lnTo>
                    <a:pt x="9568" y="0"/>
                  </a:lnTo>
                  <a:lnTo>
                    <a:pt x="10000" y="4954"/>
                  </a:lnTo>
                  <a:lnTo>
                    <a:pt x="9568" y="100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TextBox 27"/>
            <p:cNvSpPr txBox="1"/>
            <p:nvPr/>
          </p:nvSpPr>
          <p:spPr>
            <a:xfrm>
              <a:off x="1604" y="2970"/>
              <a:ext cx="3737" cy="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-2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888615" y="2377440"/>
            <a:ext cx="1779270" cy="404329"/>
            <a:chOff x="5654" y="2866"/>
            <a:chExt cx="4061" cy="939"/>
          </a:xfrm>
        </p:grpSpPr>
        <p:sp>
          <p:nvSpPr>
            <p:cNvPr id="71" name="Freeform 791"/>
            <p:cNvSpPr/>
            <p:nvPr/>
          </p:nvSpPr>
          <p:spPr bwMode="auto">
            <a:xfrm>
              <a:off x="5654" y="2866"/>
              <a:ext cx="4061" cy="939"/>
            </a:xfrm>
            <a:custGeom>
              <a:avLst/>
              <a:gdLst/>
              <a:ahLst/>
              <a:cxnLst>
                <a:cxn ang="0">
                  <a:pos x="996" y="109"/>
                </a:cxn>
                <a:cxn ang="0">
                  <a:pos x="499" y="109"/>
                </a:cxn>
                <a:cxn ang="0">
                  <a:pos x="0" y="109"/>
                </a:cxn>
                <a:cxn ang="0">
                  <a:pos x="45" y="54"/>
                </a:cxn>
                <a:cxn ang="0">
                  <a:pos x="0" y="0"/>
                </a:cxn>
                <a:cxn ang="0">
                  <a:pos x="499" y="0"/>
                </a:cxn>
                <a:cxn ang="0">
                  <a:pos x="996" y="0"/>
                </a:cxn>
                <a:cxn ang="0">
                  <a:pos x="1041" y="54"/>
                </a:cxn>
                <a:cxn ang="0">
                  <a:pos x="996" y="109"/>
                </a:cxn>
              </a:cxnLst>
              <a:rect l="0" t="0" r="r" b="b"/>
              <a:pathLst>
                <a:path w="1041" h="109">
                  <a:moveTo>
                    <a:pt x="996" y="109"/>
                  </a:moveTo>
                  <a:lnTo>
                    <a:pt x="499" y="109"/>
                  </a:lnTo>
                  <a:lnTo>
                    <a:pt x="0" y="109"/>
                  </a:lnTo>
                  <a:lnTo>
                    <a:pt x="45" y="54"/>
                  </a:lnTo>
                  <a:lnTo>
                    <a:pt x="0" y="0"/>
                  </a:lnTo>
                  <a:lnTo>
                    <a:pt x="499" y="0"/>
                  </a:lnTo>
                  <a:lnTo>
                    <a:pt x="996" y="0"/>
                  </a:lnTo>
                  <a:lnTo>
                    <a:pt x="1041" y="54"/>
                  </a:lnTo>
                  <a:lnTo>
                    <a:pt x="996" y="109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TextBox 28"/>
            <p:cNvSpPr txBox="1"/>
            <p:nvPr/>
          </p:nvSpPr>
          <p:spPr>
            <a:xfrm>
              <a:off x="5775" y="2931"/>
              <a:ext cx="3622" cy="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-3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586605" y="2378075"/>
            <a:ext cx="1873885" cy="400872"/>
            <a:chOff x="9479" y="2866"/>
            <a:chExt cx="3815" cy="939"/>
          </a:xfrm>
        </p:grpSpPr>
        <p:sp>
          <p:nvSpPr>
            <p:cNvPr id="72" name="Freeform 792"/>
            <p:cNvSpPr/>
            <p:nvPr/>
          </p:nvSpPr>
          <p:spPr bwMode="auto">
            <a:xfrm>
              <a:off x="9479" y="2866"/>
              <a:ext cx="3815" cy="939"/>
            </a:xfrm>
            <a:custGeom>
              <a:avLst/>
              <a:gdLst/>
              <a:ahLst/>
              <a:cxnLst>
                <a:cxn ang="0">
                  <a:pos x="996" y="109"/>
                </a:cxn>
                <a:cxn ang="0">
                  <a:pos x="497" y="109"/>
                </a:cxn>
                <a:cxn ang="0">
                  <a:pos x="0" y="109"/>
                </a:cxn>
                <a:cxn ang="0">
                  <a:pos x="45" y="54"/>
                </a:cxn>
                <a:cxn ang="0">
                  <a:pos x="0" y="0"/>
                </a:cxn>
                <a:cxn ang="0">
                  <a:pos x="497" y="0"/>
                </a:cxn>
                <a:cxn ang="0">
                  <a:pos x="996" y="0"/>
                </a:cxn>
                <a:cxn ang="0">
                  <a:pos x="1041" y="54"/>
                </a:cxn>
                <a:cxn ang="0">
                  <a:pos x="996" y="109"/>
                </a:cxn>
              </a:cxnLst>
              <a:rect l="0" t="0" r="r" b="b"/>
              <a:pathLst>
                <a:path w="1041" h="109">
                  <a:moveTo>
                    <a:pt x="996" y="109"/>
                  </a:moveTo>
                  <a:lnTo>
                    <a:pt x="497" y="109"/>
                  </a:lnTo>
                  <a:lnTo>
                    <a:pt x="0" y="109"/>
                  </a:lnTo>
                  <a:lnTo>
                    <a:pt x="45" y="54"/>
                  </a:lnTo>
                  <a:lnTo>
                    <a:pt x="0" y="0"/>
                  </a:lnTo>
                  <a:lnTo>
                    <a:pt x="497" y="0"/>
                  </a:lnTo>
                  <a:lnTo>
                    <a:pt x="996" y="0"/>
                  </a:lnTo>
                  <a:lnTo>
                    <a:pt x="1041" y="54"/>
                  </a:lnTo>
                  <a:lnTo>
                    <a:pt x="996" y="109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TextBox 29"/>
            <p:cNvSpPr txBox="1"/>
            <p:nvPr/>
          </p:nvSpPr>
          <p:spPr>
            <a:xfrm>
              <a:off x="9569" y="2973"/>
              <a:ext cx="3607" cy="7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-4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97" name="Content Placeholder 2"/>
          <p:cNvSpPr txBox="1"/>
          <p:nvPr/>
        </p:nvSpPr>
        <p:spPr>
          <a:xfrm>
            <a:off x="3059471" y="3941489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基础开发</a:t>
            </a:r>
            <a:endParaRPr lang="zh-CN" altLang="en-US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Content Placeholder 2"/>
          <p:cNvSpPr txBox="1"/>
          <p:nvPr/>
        </p:nvSpPr>
        <p:spPr>
          <a:xfrm>
            <a:off x="4829035" y="3935140"/>
            <a:ext cx="1368815" cy="458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功能完善</a:t>
            </a:r>
            <a:endParaRPr lang="zh-CN" altLang="en-US" sz="140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238115" y="3239770"/>
            <a:ext cx="589280" cy="598170"/>
            <a:chOff x="13472" y="4755"/>
            <a:chExt cx="1296" cy="1296"/>
          </a:xfrm>
        </p:grpSpPr>
        <p:sp>
          <p:nvSpPr>
            <p:cNvPr id="84" name="Oval 18"/>
            <p:cNvSpPr/>
            <p:nvPr/>
          </p:nvSpPr>
          <p:spPr>
            <a:xfrm>
              <a:off x="13472" y="4755"/>
              <a:ext cx="1296" cy="1296"/>
            </a:xfrm>
            <a:prstGeom prst="ellipse">
              <a:avLst/>
            </a:prstGeom>
            <a:noFill/>
            <a:ln w="793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Arc 19"/>
            <p:cNvSpPr/>
            <p:nvPr/>
          </p:nvSpPr>
          <p:spPr>
            <a:xfrm>
              <a:off x="13472" y="4755"/>
              <a:ext cx="1296" cy="1296"/>
            </a:xfrm>
            <a:prstGeom prst="arc">
              <a:avLst>
                <a:gd name="adj1" fmla="val 5584046"/>
                <a:gd name="adj2" fmla="val 16355650"/>
              </a:avLst>
            </a:prstGeom>
            <a:ln w="79375">
              <a:solidFill>
                <a:schemeClr val="accent3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vi-VN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6"/>
            <p:cNvSpPr>
              <a:spLocks noChangeArrowheads="1"/>
            </p:cNvSpPr>
            <p:nvPr/>
          </p:nvSpPr>
          <p:spPr bwMode="auto">
            <a:xfrm>
              <a:off x="13791" y="5156"/>
              <a:ext cx="576" cy="576"/>
            </a:xfrm>
            <a:custGeom>
              <a:avLst/>
              <a:gdLst>
                <a:gd name="T0" fmla="*/ 425 w 444"/>
                <a:gd name="T1" fmla="*/ 17 h 435"/>
                <a:gd name="T2" fmla="*/ 425 w 444"/>
                <a:gd name="T3" fmla="*/ 17 h 435"/>
                <a:gd name="T4" fmla="*/ 345 w 444"/>
                <a:gd name="T5" fmla="*/ 35 h 435"/>
                <a:gd name="T6" fmla="*/ 0 w 444"/>
                <a:gd name="T7" fmla="*/ 222 h 435"/>
                <a:gd name="T8" fmla="*/ 195 w 444"/>
                <a:gd name="T9" fmla="*/ 248 h 435"/>
                <a:gd name="T10" fmla="*/ 221 w 444"/>
                <a:gd name="T11" fmla="*/ 434 h 435"/>
                <a:gd name="T12" fmla="*/ 399 w 444"/>
                <a:gd name="T13" fmla="*/ 89 h 435"/>
                <a:gd name="T14" fmla="*/ 425 w 444"/>
                <a:gd name="T15" fmla="*/ 17 h 435"/>
                <a:gd name="T16" fmla="*/ 381 w 444"/>
                <a:gd name="T17" fmla="*/ 62 h 435"/>
                <a:gd name="T18" fmla="*/ 381 w 444"/>
                <a:gd name="T19" fmla="*/ 62 h 435"/>
                <a:gd name="T20" fmla="*/ 239 w 444"/>
                <a:gd name="T21" fmla="*/ 319 h 435"/>
                <a:gd name="T22" fmla="*/ 230 w 444"/>
                <a:gd name="T23" fmla="*/ 204 h 435"/>
                <a:gd name="T24" fmla="*/ 381 w 444"/>
                <a:gd name="T25" fmla="*/ 62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4" h="435">
                  <a:moveTo>
                    <a:pt x="425" y="17"/>
                  </a:moveTo>
                  <a:lnTo>
                    <a:pt x="425" y="17"/>
                  </a:lnTo>
                  <a:cubicBezTo>
                    <a:pt x="408" y="0"/>
                    <a:pt x="399" y="17"/>
                    <a:pt x="345" y="35"/>
                  </a:cubicBezTo>
                  <a:cubicBezTo>
                    <a:pt x="221" y="97"/>
                    <a:pt x="0" y="222"/>
                    <a:pt x="0" y="222"/>
                  </a:cubicBezTo>
                  <a:cubicBezTo>
                    <a:pt x="195" y="248"/>
                    <a:pt x="195" y="248"/>
                    <a:pt x="195" y="248"/>
                  </a:cubicBezTo>
                  <a:cubicBezTo>
                    <a:pt x="221" y="434"/>
                    <a:pt x="221" y="434"/>
                    <a:pt x="221" y="434"/>
                  </a:cubicBezTo>
                  <a:cubicBezTo>
                    <a:pt x="221" y="434"/>
                    <a:pt x="345" y="222"/>
                    <a:pt x="399" y="89"/>
                  </a:cubicBezTo>
                  <a:cubicBezTo>
                    <a:pt x="425" y="44"/>
                    <a:pt x="443" y="26"/>
                    <a:pt x="425" y="17"/>
                  </a:cubicBezTo>
                  <a:close/>
                  <a:moveTo>
                    <a:pt x="381" y="62"/>
                  </a:moveTo>
                  <a:lnTo>
                    <a:pt x="381" y="62"/>
                  </a:lnTo>
                  <a:cubicBezTo>
                    <a:pt x="239" y="319"/>
                    <a:pt x="239" y="319"/>
                    <a:pt x="239" y="319"/>
                  </a:cubicBezTo>
                  <a:cubicBezTo>
                    <a:pt x="230" y="204"/>
                    <a:pt x="230" y="204"/>
                    <a:pt x="230" y="204"/>
                  </a:cubicBezTo>
                  <a:lnTo>
                    <a:pt x="381" y="6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457575" y="3261360"/>
            <a:ext cx="571500" cy="574675"/>
            <a:chOff x="8410" y="4753"/>
            <a:chExt cx="1296" cy="1296"/>
          </a:xfrm>
        </p:grpSpPr>
        <p:sp>
          <p:nvSpPr>
            <p:cNvPr id="82" name="Oval 16"/>
            <p:cNvSpPr/>
            <p:nvPr/>
          </p:nvSpPr>
          <p:spPr>
            <a:xfrm>
              <a:off x="8410" y="4753"/>
              <a:ext cx="1296" cy="1296"/>
            </a:xfrm>
            <a:prstGeom prst="ellipse">
              <a:avLst/>
            </a:prstGeom>
            <a:noFill/>
            <a:ln w="793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Arc 17"/>
            <p:cNvSpPr/>
            <p:nvPr/>
          </p:nvSpPr>
          <p:spPr>
            <a:xfrm>
              <a:off x="8410" y="4753"/>
              <a:ext cx="1296" cy="1296"/>
            </a:xfrm>
            <a:prstGeom prst="arc">
              <a:avLst>
                <a:gd name="adj1" fmla="val 9206565"/>
                <a:gd name="adj2" fmla="val 16045990"/>
              </a:avLst>
            </a:prstGeom>
            <a:ln w="79375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vi-VN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106"/>
            <p:cNvSpPr>
              <a:spLocks noChangeArrowheads="1"/>
            </p:cNvSpPr>
            <p:nvPr/>
          </p:nvSpPr>
          <p:spPr bwMode="auto">
            <a:xfrm>
              <a:off x="8824" y="5121"/>
              <a:ext cx="576" cy="576"/>
            </a:xfrm>
            <a:custGeom>
              <a:avLst/>
              <a:gdLst>
                <a:gd name="T0" fmla="*/ 35 w 355"/>
                <a:gd name="T1" fmla="*/ 497 h 506"/>
                <a:gd name="T2" fmla="*/ 35 w 355"/>
                <a:gd name="T3" fmla="*/ 497 h 506"/>
                <a:gd name="T4" fmla="*/ 70 w 355"/>
                <a:gd name="T5" fmla="*/ 381 h 506"/>
                <a:gd name="T6" fmla="*/ 203 w 355"/>
                <a:gd name="T7" fmla="*/ 310 h 506"/>
                <a:gd name="T8" fmla="*/ 132 w 355"/>
                <a:gd name="T9" fmla="*/ 284 h 506"/>
                <a:gd name="T10" fmla="*/ 292 w 355"/>
                <a:gd name="T11" fmla="*/ 194 h 506"/>
                <a:gd name="T12" fmla="*/ 194 w 355"/>
                <a:gd name="T13" fmla="*/ 168 h 506"/>
                <a:gd name="T14" fmla="*/ 327 w 355"/>
                <a:gd name="T15" fmla="*/ 133 h 506"/>
                <a:gd name="T16" fmla="*/ 345 w 355"/>
                <a:gd name="T17" fmla="*/ 44 h 506"/>
                <a:gd name="T18" fmla="*/ 248 w 355"/>
                <a:gd name="T19" fmla="*/ 0 h 506"/>
                <a:gd name="T20" fmla="*/ 159 w 355"/>
                <a:gd name="T21" fmla="*/ 124 h 506"/>
                <a:gd name="T22" fmla="*/ 168 w 355"/>
                <a:gd name="T23" fmla="*/ 18 h 506"/>
                <a:gd name="T24" fmla="*/ 70 w 355"/>
                <a:gd name="T25" fmla="*/ 106 h 506"/>
                <a:gd name="T26" fmla="*/ 61 w 355"/>
                <a:gd name="T27" fmla="*/ 301 h 506"/>
                <a:gd name="T28" fmla="*/ 8 w 355"/>
                <a:gd name="T29" fmla="*/ 213 h 506"/>
                <a:gd name="T30" fmla="*/ 35 w 355"/>
                <a:gd name="T31" fmla="*/ 363 h 506"/>
                <a:gd name="T32" fmla="*/ 8 w 355"/>
                <a:gd name="T33" fmla="*/ 478 h 506"/>
                <a:gd name="T34" fmla="*/ 35 w 355"/>
                <a:gd name="T35" fmla="*/ 497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5" h="506">
                  <a:moveTo>
                    <a:pt x="35" y="497"/>
                  </a:moveTo>
                  <a:lnTo>
                    <a:pt x="35" y="497"/>
                  </a:lnTo>
                  <a:cubicBezTo>
                    <a:pt x="44" y="469"/>
                    <a:pt x="53" y="434"/>
                    <a:pt x="70" y="381"/>
                  </a:cubicBezTo>
                  <a:cubicBezTo>
                    <a:pt x="132" y="372"/>
                    <a:pt x="168" y="390"/>
                    <a:pt x="203" y="310"/>
                  </a:cubicBezTo>
                  <a:cubicBezTo>
                    <a:pt x="168" y="328"/>
                    <a:pt x="132" y="292"/>
                    <a:pt x="132" y="284"/>
                  </a:cubicBezTo>
                  <a:cubicBezTo>
                    <a:pt x="132" y="266"/>
                    <a:pt x="229" y="292"/>
                    <a:pt x="292" y="194"/>
                  </a:cubicBezTo>
                  <a:cubicBezTo>
                    <a:pt x="212" y="213"/>
                    <a:pt x="185" y="178"/>
                    <a:pt x="194" y="168"/>
                  </a:cubicBezTo>
                  <a:cubicBezTo>
                    <a:pt x="221" y="159"/>
                    <a:pt x="292" y="168"/>
                    <a:pt x="327" y="133"/>
                  </a:cubicBezTo>
                  <a:cubicBezTo>
                    <a:pt x="345" y="115"/>
                    <a:pt x="354" y="62"/>
                    <a:pt x="345" y="44"/>
                  </a:cubicBezTo>
                  <a:cubicBezTo>
                    <a:pt x="336" y="27"/>
                    <a:pt x="283" y="0"/>
                    <a:pt x="248" y="0"/>
                  </a:cubicBezTo>
                  <a:cubicBezTo>
                    <a:pt x="221" y="9"/>
                    <a:pt x="168" y="124"/>
                    <a:pt x="159" y="124"/>
                  </a:cubicBezTo>
                  <a:cubicBezTo>
                    <a:pt x="141" y="124"/>
                    <a:pt x="141" y="71"/>
                    <a:pt x="168" y="18"/>
                  </a:cubicBezTo>
                  <a:cubicBezTo>
                    <a:pt x="132" y="35"/>
                    <a:pt x="88" y="71"/>
                    <a:pt x="70" y="106"/>
                  </a:cubicBezTo>
                  <a:cubicBezTo>
                    <a:pt x="44" y="159"/>
                    <a:pt x="79" y="301"/>
                    <a:pt x="61" y="301"/>
                  </a:cubicBezTo>
                  <a:cubicBezTo>
                    <a:pt x="53" y="310"/>
                    <a:pt x="17" y="239"/>
                    <a:pt x="8" y="213"/>
                  </a:cubicBezTo>
                  <a:cubicBezTo>
                    <a:pt x="0" y="257"/>
                    <a:pt x="0" y="301"/>
                    <a:pt x="35" y="363"/>
                  </a:cubicBezTo>
                  <a:cubicBezTo>
                    <a:pt x="26" y="407"/>
                    <a:pt x="17" y="452"/>
                    <a:pt x="8" y="478"/>
                  </a:cubicBezTo>
                  <a:cubicBezTo>
                    <a:pt x="8" y="497"/>
                    <a:pt x="35" y="505"/>
                    <a:pt x="35" y="49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790065" y="3283585"/>
            <a:ext cx="594360" cy="574675"/>
            <a:chOff x="3544" y="4816"/>
            <a:chExt cx="1296" cy="1296"/>
          </a:xfrm>
        </p:grpSpPr>
        <p:sp>
          <p:nvSpPr>
            <p:cNvPr id="80" name="Oval 14"/>
            <p:cNvSpPr/>
            <p:nvPr/>
          </p:nvSpPr>
          <p:spPr>
            <a:xfrm>
              <a:off x="3544" y="4816"/>
              <a:ext cx="1296" cy="1296"/>
            </a:xfrm>
            <a:prstGeom prst="ellipse">
              <a:avLst/>
            </a:prstGeom>
            <a:noFill/>
            <a:ln w="793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Arc 15"/>
            <p:cNvSpPr/>
            <p:nvPr/>
          </p:nvSpPr>
          <p:spPr>
            <a:xfrm>
              <a:off x="3544" y="4816"/>
              <a:ext cx="1296" cy="1296"/>
            </a:xfrm>
            <a:prstGeom prst="arc">
              <a:avLst>
                <a:gd name="adj1" fmla="val 13167232"/>
                <a:gd name="adj2" fmla="val 16466928"/>
              </a:avLst>
            </a:prstGeom>
            <a:ln w="7937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vi-VN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115"/>
            <p:cNvSpPr>
              <a:spLocks noChangeArrowheads="1"/>
            </p:cNvSpPr>
            <p:nvPr/>
          </p:nvSpPr>
          <p:spPr bwMode="auto">
            <a:xfrm>
              <a:off x="3918" y="5123"/>
              <a:ext cx="576" cy="682"/>
            </a:xfrm>
            <a:custGeom>
              <a:avLst/>
              <a:gdLst>
                <a:gd name="T0" fmla="*/ 381 w 400"/>
                <a:gd name="T1" fmla="*/ 124 h 498"/>
                <a:gd name="T2" fmla="*/ 381 w 400"/>
                <a:gd name="T3" fmla="*/ 124 h 498"/>
                <a:gd name="T4" fmla="*/ 231 w 400"/>
                <a:gd name="T5" fmla="*/ 9 h 498"/>
                <a:gd name="T6" fmla="*/ 115 w 400"/>
                <a:gd name="T7" fmla="*/ 151 h 498"/>
                <a:gd name="T8" fmla="*/ 133 w 400"/>
                <a:gd name="T9" fmla="*/ 213 h 498"/>
                <a:gd name="T10" fmla="*/ 9 w 400"/>
                <a:gd name="T11" fmla="*/ 407 h 498"/>
                <a:gd name="T12" fmla="*/ 0 w 400"/>
                <a:gd name="T13" fmla="*/ 434 h 498"/>
                <a:gd name="T14" fmla="*/ 9 w 400"/>
                <a:gd name="T15" fmla="*/ 478 h 498"/>
                <a:gd name="T16" fmla="*/ 27 w 400"/>
                <a:gd name="T17" fmla="*/ 497 h 498"/>
                <a:gd name="T18" fmla="*/ 62 w 400"/>
                <a:gd name="T19" fmla="*/ 487 h 498"/>
                <a:gd name="T20" fmla="*/ 89 w 400"/>
                <a:gd name="T21" fmla="*/ 470 h 498"/>
                <a:gd name="T22" fmla="*/ 142 w 400"/>
                <a:gd name="T23" fmla="*/ 390 h 498"/>
                <a:gd name="T24" fmla="*/ 142 w 400"/>
                <a:gd name="T25" fmla="*/ 390 h 498"/>
                <a:gd name="T26" fmla="*/ 177 w 400"/>
                <a:gd name="T27" fmla="*/ 381 h 498"/>
                <a:gd name="T28" fmla="*/ 231 w 400"/>
                <a:gd name="T29" fmla="*/ 284 h 498"/>
                <a:gd name="T30" fmla="*/ 293 w 400"/>
                <a:gd name="T31" fmla="*/ 284 h 498"/>
                <a:gd name="T32" fmla="*/ 381 w 400"/>
                <a:gd name="T33" fmla="*/ 124 h 498"/>
                <a:gd name="T34" fmla="*/ 319 w 400"/>
                <a:gd name="T35" fmla="*/ 159 h 498"/>
                <a:gd name="T36" fmla="*/ 319 w 400"/>
                <a:gd name="T37" fmla="*/ 159 h 498"/>
                <a:gd name="T38" fmla="*/ 256 w 400"/>
                <a:gd name="T39" fmla="*/ 142 h 498"/>
                <a:gd name="T40" fmla="*/ 221 w 400"/>
                <a:gd name="T41" fmla="*/ 80 h 498"/>
                <a:gd name="T42" fmla="*/ 310 w 400"/>
                <a:gd name="T43" fmla="*/ 71 h 498"/>
                <a:gd name="T44" fmla="*/ 319 w 400"/>
                <a:gd name="T45" fmla="*/ 159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00" h="498">
                  <a:moveTo>
                    <a:pt x="381" y="124"/>
                  </a:moveTo>
                  <a:lnTo>
                    <a:pt x="381" y="124"/>
                  </a:lnTo>
                  <a:cubicBezTo>
                    <a:pt x="372" y="44"/>
                    <a:pt x="301" y="0"/>
                    <a:pt x="231" y="9"/>
                  </a:cubicBezTo>
                  <a:cubicBezTo>
                    <a:pt x="159" y="27"/>
                    <a:pt x="106" y="80"/>
                    <a:pt x="115" y="151"/>
                  </a:cubicBezTo>
                  <a:cubicBezTo>
                    <a:pt x="115" y="168"/>
                    <a:pt x="124" y="195"/>
                    <a:pt x="133" y="213"/>
                  </a:cubicBezTo>
                  <a:cubicBezTo>
                    <a:pt x="9" y="407"/>
                    <a:pt x="9" y="407"/>
                    <a:pt x="9" y="407"/>
                  </a:cubicBezTo>
                  <a:cubicBezTo>
                    <a:pt x="0" y="407"/>
                    <a:pt x="0" y="425"/>
                    <a:pt x="0" y="434"/>
                  </a:cubicBezTo>
                  <a:cubicBezTo>
                    <a:pt x="9" y="478"/>
                    <a:pt x="9" y="478"/>
                    <a:pt x="9" y="478"/>
                  </a:cubicBezTo>
                  <a:cubicBezTo>
                    <a:pt x="9" y="487"/>
                    <a:pt x="18" y="497"/>
                    <a:pt x="27" y="497"/>
                  </a:cubicBezTo>
                  <a:cubicBezTo>
                    <a:pt x="62" y="487"/>
                    <a:pt x="62" y="487"/>
                    <a:pt x="62" y="487"/>
                  </a:cubicBezTo>
                  <a:cubicBezTo>
                    <a:pt x="71" y="487"/>
                    <a:pt x="80" y="478"/>
                    <a:pt x="89" y="470"/>
                  </a:cubicBezTo>
                  <a:cubicBezTo>
                    <a:pt x="142" y="390"/>
                    <a:pt x="142" y="390"/>
                    <a:pt x="142" y="390"/>
                  </a:cubicBezTo>
                  <a:lnTo>
                    <a:pt x="142" y="390"/>
                  </a:lnTo>
                  <a:cubicBezTo>
                    <a:pt x="177" y="381"/>
                    <a:pt x="177" y="381"/>
                    <a:pt x="177" y="381"/>
                  </a:cubicBezTo>
                  <a:cubicBezTo>
                    <a:pt x="231" y="284"/>
                    <a:pt x="231" y="284"/>
                    <a:pt x="231" y="284"/>
                  </a:cubicBezTo>
                  <a:cubicBezTo>
                    <a:pt x="248" y="293"/>
                    <a:pt x="284" y="284"/>
                    <a:pt x="293" y="284"/>
                  </a:cubicBezTo>
                  <a:cubicBezTo>
                    <a:pt x="363" y="275"/>
                    <a:pt x="399" y="195"/>
                    <a:pt x="381" y="124"/>
                  </a:cubicBezTo>
                  <a:close/>
                  <a:moveTo>
                    <a:pt x="319" y="159"/>
                  </a:moveTo>
                  <a:lnTo>
                    <a:pt x="319" y="159"/>
                  </a:lnTo>
                  <a:cubicBezTo>
                    <a:pt x="301" y="187"/>
                    <a:pt x="284" y="168"/>
                    <a:pt x="256" y="142"/>
                  </a:cubicBezTo>
                  <a:cubicBezTo>
                    <a:pt x="231" y="124"/>
                    <a:pt x="203" y="115"/>
                    <a:pt x="221" y="80"/>
                  </a:cubicBezTo>
                  <a:cubicBezTo>
                    <a:pt x="240" y="53"/>
                    <a:pt x="284" y="44"/>
                    <a:pt x="310" y="71"/>
                  </a:cubicBezTo>
                  <a:cubicBezTo>
                    <a:pt x="337" y="89"/>
                    <a:pt x="346" y="133"/>
                    <a:pt x="319" y="1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2" name="文本框 111"/>
          <p:cNvSpPr txBox="1"/>
          <p:nvPr/>
        </p:nvSpPr>
        <p:spPr>
          <a:xfrm>
            <a:off x="1115060" y="4192905"/>
            <a:ext cx="2729865" cy="75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</a:t>
            </a:r>
            <a:r>
              <a:rPr lang="en-US" altLang="zh-CN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Rust</a:t>
            </a: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</a:t>
            </a:r>
            <a:endParaRPr lang="zh-CN" altLang="en-US" sz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</a:t>
            </a:r>
            <a:r>
              <a:rPr lang="en-US" altLang="zh-CN" sz="12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rcore</a:t>
            </a:r>
            <a:r>
              <a:rPr lang="en-US" altLang="zh-CN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-Tutorial</a:t>
            </a:r>
            <a:endParaRPr lang="en-US" altLang="zh-CN" sz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调研往届优秀作品</a:t>
            </a:r>
            <a:endParaRPr lang="zh-CN" altLang="en-US" sz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2839085" y="4192905"/>
            <a:ext cx="2030730" cy="75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rcore</a:t>
            </a:r>
            <a:r>
              <a:rPr lang="zh-CN" altLang="en-US" sz="1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的基础上进行内核开发</a:t>
            </a:r>
            <a:endParaRPr lang="en-US" altLang="zh-CN" sz="1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实现部分基础</a:t>
            </a:r>
            <a:r>
              <a:rPr lang="en-US" altLang="zh-CN" sz="12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syscall</a:t>
            </a:r>
            <a:endParaRPr lang="en-US" altLang="zh-CN" sz="1200" dirty="0" err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Content Placeholder 2"/>
          <p:cNvSpPr txBox="1"/>
          <p:nvPr/>
        </p:nvSpPr>
        <p:spPr>
          <a:xfrm>
            <a:off x="4667885" y="4192905"/>
            <a:ext cx="2045970" cy="216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实现写时复制</a:t>
            </a:r>
            <a:r>
              <a:rPr lang="zh-CN" altLang="en-US" sz="1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和懒分配</a:t>
            </a:r>
            <a:endParaRPr lang="zh-CN" altLang="en-US" sz="12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</a:t>
            </a:r>
            <a:r>
              <a:rPr lang="en-US" altLang="zh-CN" sz="1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VFS</a:t>
            </a:r>
            <a:r>
              <a:rPr lang="zh-CN" altLang="en-US" sz="1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和页缓存</a:t>
            </a:r>
            <a:endParaRPr lang="en-US" altLang="zh-CN" sz="12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</a:t>
            </a:r>
            <a:r>
              <a:rPr lang="en-US" altLang="zh-CN" sz="1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basic</a:t>
            </a:r>
            <a:r>
              <a:rPr lang="zh-CN" altLang="en-US" sz="1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测例</a:t>
            </a:r>
            <a:endParaRPr lang="en-US" altLang="zh-CN" sz="12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学习龙芯架构相关知识</a:t>
            </a:r>
            <a:endParaRPr lang="zh-CN" altLang="en-US" sz="12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搭建内核网络栈</a:t>
            </a:r>
            <a:endParaRPr lang="en-US" altLang="zh-CN" sz="12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b="1" smtClean="0">
                <a:solidFill>
                  <a:schemeClr val="tx1"/>
                </a:solidFill>
              </a:rPr>
            </a:fld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33648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9903554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6668694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1014532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8076024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1"/>
          <p:cNvSpPr txBox="1"/>
          <p:nvPr/>
        </p:nvSpPr>
        <p:spPr>
          <a:xfrm>
            <a:off x="831779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6367780" y="2377440"/>
            <a:ext cx="1960245" cy="407035"/>
            <a:chOff x="13806" y="2866"/>
            <a:chExt cx="3651" cy="939"/>
          </a:xfrm>
        </p:grpSpPr>
        <p:sp>
          <p:nvSpPr>
            <p:cNvPr id="27" name="Freeform 793"/>
            <p:cNvSpPr/>
            <p:nvPr/>
          </p:nvSpPr>
          <p:spPr bwMode="auto">
            <a:xfrm>
              <a:off x="13806" y="2866"/>
              <a:ext cx="3651" cy="939"/>
            </a:xfrm>
            <a:custGeom>
              <a:avLst/>
              <a:gdLst/>
              <a:ahLst/>
              <a:cxnLst>
                <a:cxn ang="0">
                  <a:pos x="993" y="109"/>
                </a:cxn>
                <a:cxn ang="0">
                  <a:pos x="497" y="109"/>
                </a:cxn>
                <a:cxn ang="0">
                  <a:pos x="0" y="109"/>
                </a:cxn>
                <a:cxn ang="0">
                  <a:pos x="45" y="54"/>
                </a:cxn>
                <a:cxn ang="0">
                  <a:pos x="0" y="0"/>
                </a:cxn>
                <a:cxn ang="0">
                  <a:pos x="497" y="0"/>
                </a:cxn>
                <a:cxn ang="0">
                  <a:pos x="993" y="0"/>
                </a:cxn>
                <a:cxn ang="0">
                  <a:pos x="1038" y="54"/>
                </a:cxn>
                <a:cxn ang="0">
                  <a:pos x="993" y="109"/>
                </a:cxn>
              </a:cxnLst>
              <a:rect l="0" t="0" r="r" b="b"/>
              <a:pathLst>
                <a:path w="1038" h="109">
                  <a:moveTo>
                    <a:pt x="993" y="109"/>
                  </a:moveTo>
                  <a:lnTo>
                    <a:pt x="497" y="109"/>
                  </a:lnTo>
                  <a:lnTo>
                    <a:pt x="0" y="109"/>
                  </a:lnTo>
                  <a:lnTo>
                    <a:pt x="45" y="54"/>
                  </a:lnTo>
                  <a:lnTo>
                    <a:pt x="0" y="0"/>
                  </a:lnTo>
                  <a:lnTo>
                    <a:pt x="497" y="0"/>
                  </a:lnTo>
                  <a:lnTo>
                    <a:pt x="993" y="0"/>
                  </a:lnTo>
                  <a:lnTo>
                    <a:pt x="1038" y="54"/>
                  </a:lnTo>
                  <a:lnTo>
                    <a:pt x="993" y="109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TextBox 30"/>
            <p:cNvSpPr txBox="1"/>
            <p:nvPr/>
          </p:nvSpPr>
          <p:spPr>
            <a:xfrm>
              <a:off x="13832" y="2958"/>
              <a:ext cx="3580" cy="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-6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cxnSp>
        <p:nvCxnSpPr>
          <p:cNvPr id="34" name="Straight Connector 12"/>
          <p:cNvCxnSpPr/>
          <p:nvPr/>
        </p:nvCxnSpPr>
        <p:spPr>
          <a:xfrm flipH="1">
            <a:off x="7384174" y="2902522"/>
            <a:ext cx="635" cy="2857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7063740" y="3239770"/>
            <a:ext cx="612775" cy="624205"/>
            <a:chOff x="12710" y="5004"/>
            <a:chExt cx="1304" cy="1296"/>
          </a:xfrm>
        </p:grpSpPr>
        <p:sp>
          <p:nvSpPr>
            <p:cNvPr id="35" name="Oval 20"/>
            <p:cNvSpPr/>
            <p:nvPr/>
          </p:nvSpPr>
          <p:spPr>
            <a:xfrm>
              <a:off x="12718" y="5004"/>
              <a:ext cx="1296" cy="1296"/>
            </a:xfrm>
            <a:prstGeom prst="ellipse">
              <a:avLst/>
            </a:prstGeom>
            <a:noFill/>
            <a:ln w="793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Arc 21"/>
            <p:cNvSpPr/>
            <p:nvPr/>
          </p:nvSpPr>
          <p:spPr>
            <a:xfrm>
              <a:off x="12710" y="5004"/>
              <a:ext cx="1296" cy="1296"/>
            </a:xfrm>
            <a:prstGeom prst="arc">
              <a:avLst>
                <a:gd name="adj1" fmla="val 867854"/>
                <a:gd name="adj2" fmla="val 16404494"/>
              </a:avLst>
            </a:prstGeom>
            <a:ln w="79375">
              <a:solidFill>
                <a:schemeClr val="accent4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vi-VN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Freeform 25"/>
            <p:cNvSpPr>
              <a:spLocks noChangeArrowheads="1"/>
            </p:cNvSpPr>
            <p:nvPr/>
          </p:nvSpPr>
          <p:spPr bwMode="auto">
            <a:xfrm>
              <a:off x="13084" y="5324"/>
              <a:ext cx="576" cy="576"/>
            </a:xfrm>
            <a:custGeom>
              <a:avLst/>
              <a:gdLst>
                <a:gd name="T0" fmla="*/ 195 w 346"/>
                <a:gd name="T1" fmla="*/ 0 h 479"/>
                <a:gd name="T2" fmla="*/ 195 w 346"/>
                <a:gd name="T3" fmla="*/ 0 h 479"/>
                <a:gd name="T4" fmla="*/ 160 w 346"/>
                <a:gd name="T5" fmla="*/ 0 h 479"/>
                <a:gd name="T6" fmla="*/ 160 w 346"/>
                <a:gd name="T7" fmla="*/ 328 h 479"/>
                <a:gd name="T8" fmla="*/ 80 w 346"/>
                <a:gd name="T9" fmla="*/ 328 h 479"/>
                <a:gd name="T10" fmla="*/ 10 w 346"/>
                <a:gd name="T11" fmla="*/ 425 h 479"/>
                <a:gd name="T12" fmla="*/ 124 w 346"/>
                <a:gd name="T13" fmla="*/ 461 h 479"/>
                <a:gd name="T14" fmla="*/ 195 w 346"/>
                <a:gd name="T15" fmla="*/ 372 h 479"/>
                <a:gd name="T16" fmla="*/ 195 w 346"/>
                <a:gd name="T17" fmla="*/ 106 h 479"/>
                <a:gd name="T18" fmla="*/ 257 w 346"/>
                <a:gd name="T19" fmla="*/ 230 h 479"/>
                <a:gd name="T20" fmla="*/ 275 w 346"/>
                <a:gd name="T21" fmla="*/ 230 h 479"/>
                <a:gd name="T22" fmla="*/ 195 w 346"/>
                <a:gd name="T23" fmla="*/ 0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6" h="479">
                  <a:moveTo>
                    <a:pt x="195" y="0"/>
                  </a:moveTo>
                  <a:lnTo>
                    <a:pt x="195" y="0"/>
                  </a:lnTo>
                  <a:cubicBezTo>
                    <a:pt x="160" y="0"/>
                    <a:pt x="160" y="0"/>
                    <a:pt x="160" y="0"/>
                  </a:cubicBezTo>
                  <a:cubicBezTo>
                    <a:pt x="160" y="328"/>
                    <a:pt x="160" y="328"/>
                    <a:pt x="160" y="328"/>
                  </a:cubicBezTo>
                  <a:cubicBezTo>
                    <a:pt x="133" y="319"/>
                    <a:pt x="107" y="319"/>
                    <a:pt x="80" y="328"/>
                  </a:cubicBezTo>
                  <a:cubicBezTo>
                    <a:pt x="26" y="346"/>
                    <a:pt x="0" y="390"/>
                    <a:pt x="10" y="425"/>
                  </a:cubicBezTo>
                  <a:cubicBezTo>
                    <a:pt x="26" y="461"/>
                    <a:pt x="71" y="478"/>
                    <a:pt x="124" y="461"/>
                  </a:cubicBezTo>
                  <a:cubicBezTo>
                    <a:pt x="169" y="443"/>
                    <a:pt x="195" y="408"/>
                    <a:pt x="195" y="372"/>
                  </a:cubicBezTo>
                  <a:cubicBezTo>
                    <a:pt x="195" y="106"/>
                    <a:pt x="195" y="106"/>
                    <a:pt x="195" y="106"/>
                  </a:cubicBezTo>
                  <a:cubicBezTo>
                    <a:pt x="266" y="124"/>
                    <a:pt x="266" y="212"/>
                    <a:pt x="257" y="230"/>
                  </a:cubicBezTo>
                  <a:cubicBezTo>
                    <a:pt x="257" y="239"/>
                    <a:pt x="266" y="248"/>
                    <a:pt x="275" y="230"/>
                  </a:cubicBezTo>
                  <a:cubicBezTo>
                    <a:pt x="345" y="115"/>
                    <a:pt x="195" y="62"/>
                    <a:pt x="195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Content Placeholder 2"/>
          <p:cNvSpPr txBox="1"/>
          <p:nvPr/>
        </p:nvSpPr>
        <p:spPr>
          <a:xfrm>
            <a:off x="6464935" y="3941445"/>
            <a:ext cx="1788160" cy="458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跑初赛测例</a:t>
            </a:r>
            <a:endParaRPr lang="zh-CN" altLang="en-US" sz="1400" b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Content Placeholder 2"/>
          <p:cNvSpPr txBox="1"/>
          <p:nvPr/>
        </p:nvSpPr>
        <p:spPr>
          <a:xfrm>
            <a:off x="6644005" y="4192905"/>
            <a:ext cx="3792855" cy="216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支持动态链接</a:t>
            </a:r>
            <a:endParaRPr lang="en-US" altLang="zh-CN" sz="1200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完善信号模块</a:t>
            </a:r>
            <a:endParaRPr lang="en-US" altLang="zh-CN" sz="1200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</a:t>
            </a:r>
            <a:r>
              <a:rPr lang="en-US" altLang="zh-CN" sz="1200" dirty="0" err="1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busybox</a:t>
            </a:r>
            <a:endParaRPr lang="en-US" altLang="zh-CN" sz="1200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</a:t>
            </a:r>
            <a:r>
              <a:rPr lang="zh-CN" altLang="en-US" sz="12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初赛测例</a:t>
            </a:r>
            <a:endParaRPr lang="en-US" altLang="zh-CN" sz="1200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调试龙芯架构</a:t>
            </a:r>
            <a:endParaRPr lang="zh-CN" altLang="en-US" sz="1200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8191500" y="2377440"/>
            <a:ext cx="2138045" cy="409575"/>
            <a:chOff x="13806" y="2866"/>
            <a:chExt cx="3651" cy="939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2" name="Freeform 793"/>
            <p:cNvSpPr/>
            <p:nvPr/>
          </p:nvSpPr>
          <p:spPr bwMode="auto">
            <a:xfrm>
              <a:off x="13806" y="2866"/>
              <a:ext cx="3651" cy="939"/>
            </a:xfrm>
            <a:custGeom>
              <a:avLst/>
              <a:gdLst/>
              <a:ahLst/>
              <a:cxnLst>
                <a:cxn ang="0">
                  <a:pos x="993" y="109"/>
                </a:cxn>
                <a:cxn ang="0">
                  <a:pos x="497" y="109"/>
                </a:cxn>
                <a:cxn ang="0">
                  <a:pos x="0" y="109"/>
                </a:cxn>
                <a:cxn ang="0">
                  <a:pos x="45" y="54"/>
                </a:cxn>
                <a:cxn ang="0">
                  <a:pos x="0" y="0"/>
                </a:cxn>
                <a:cxn ang="0">
                  <a:pos x="497" y="0"/>
                </a:cxn>
                <a:cxn ang="0">
                  <a:pos x="993" y="0"/>
                </a:cxn>
                <a:cxn ang="0">
                  <a:pos x="1038" y="54"/>
                </a:cxn>
                <a:cxn ang="0">
                  <a:pos x="993" y="109"/>
                </a:cxn>
              </a:cxnLst>
              <a:rect l="0" t="0" r="r" b="b"/>
              <a:pathLst>
                <a:path w="1038" h="109">
                  <a:moveTo>
                    <a:pt x="993" y="109"/>
                  </a:moveTo>
                  <a:lnTo>
                    <a:pt x="497" y="109"/>
                  </a:lnTo>
                  <a:lnTo>
                    <a:pt x="0" y="109"/>
                  </a:lnTo>
                  <a:lnTo>
                    <a:pt x="45" y="54"/>
                  </a:lnTo>
                  <a:lnTo>
                    <a:pt x="0" y="0"/>
                  </a:lnTo>
                  <a:lnTo>
                    <a:pt x="497" y="0"/>
                  </a:lnTo>
                  <a:lnTo>
                    <a:pt x="993" y="0"/>
                  </a:lnTo>
                  <a:lnTo>
                    <a:pt x="1038" y="54"/>
                  </a:lnTo>
                  <a:lnTo>
                    <a:pt x="993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TextBox 30"/>
            <p:cNvSpPr txBox="1"/>
            <p:nvPr/>
          </p:nvSpPr>
          <p:spPr>
            <a:xfrm>
              <a:off x="14208" y="2974"/>
              <a:ext cx="2784" cy="626"/>
            </a:xfrm>
            <a:prstGeom prst="rect">
              <a:avLst/>
            </a:prstGeom>
            <a:grp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7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-8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月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cxnSp>
        <p:nvCxnSpPr>
          <p:cNvPr id="44" name="Straight Connector 12"/>
          <p:cNvCxnSpPr/>
          <p:nvPr/>
        </p:nvCxnSpPr>
        <p:spPr>
          <a:xfrm>
            <a:off x="9260599" y="2883472"/>
            <a:ext cx="3175" cy="3371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8943340" y="3280410"/>
            <a:ext cx="645160" cy="645160"/>
            <a:chOff x="10813" y="4958"/>
            <a:chExt cx="1296" cy="1296"/>
          </a:xfrm>
        </p:grpSpPr>
        <p:sp>
          <p:nvSpPr>
            <p:cNvPr id="46" name="Oval 20"/>
            <p:cNvSpPr/>
            <p:nvPr/>
          </p:nvSpPr>
          <p:spPr>
            <a:xfrm>
              <a:off x="10813" y="4958"/>
              <a:ext cx="1296" cy="1296"/>
            </a:xfrm>
            <a:prstGeom prst="ellipse">
              <a:avLst/>
            </a:prstGeom>
            <a:noFill/>
            <a:ln w="79375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7" name="图片 46" descr="红旗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70" y="5246"/>
              <a:ext cx="795" cy="795"/>
            </a:xfrm>
            <a:prstGeom prst="rect">
              <a:avLst/>
            </a:prstGeom>
          </p:spPr>
        </p:pic>
      </p:grpSp>
      <p:sp>
        <p:nvSpPr>
          <p:cNvPr id="48" name="Content Placeholder 2"/>
          <p:cNvSpPr txBox="1"/>
          <p:nvPr/>
        </p:nvSpPr>
        <p:spPr>
          <a:xfrm>
            <a:off x="7634605" y="3941445"/>
            <a:ext cx="3577590" cy="458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物理平台适配</a:t>
            </a:r>
            <a:r>
              <a:rPr lang="en-US" altLang="zh-CN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跑决赛测例</a:t>
            </a:r>
            <a:endParaRPr lang="zh-CN" altLang="en-US" sz="14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9" name="Content Placeholder 2"/>
          <p:cNvSpPr txBox="1"/>
          <p:nvPr/>
        </p:nvSpPr>
        <p:spPr>
          <a:xfrm>
            <a:off x="8012430" y="4192905"/>
            <a:ext cx="4324350" cy="216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适配通过</a:t>
            </a: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cagent</a:t>
            </a: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buildstorm</a:t>
            </a: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等测例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完善网络栈功能，提高可靠性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完成硬件驱动，实现物理平台的适配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6619104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51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Box 11"/>
          <p:cNvSpPr txBox="1"/>
          <p:nvPr/>
        </p:nvSpPr>
        <p:spPr>
          <a:xfrm>
            <a:off x="848346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498485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b="1" smtClean="0">
                <a:solidFill>
                  <a:schemeClr val="tx1"/>
                </a:solidFill>
                <a:sym typeface="+mn-ea"/>
              </a:rPr>
            </a:fld>
            <a:endParaRPr lang="en-US" altLang="zh-CN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59965" y="3190240"/>
            <a:ext cx="741045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Kairix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核心内容介绍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TextBox 7"/>
          <p:cNvSpPr txBox="1"/>
          <p:nvPr/>
        </p:nvSpPr>
        <p:spPr>
          <a:xfrm>
            <a:off x="1002593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993404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b="1" smtClean="0">
                <a:solidFill>
                  <a:schemeClr val="tx1"/>
                </a:solidFill>
                <a:sym typeface="+mn-ea"/>
              </a:rPr>
            </a:fld>
            <a:endParaRPr lang="en-US" altLang="zh-CN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619104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4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1"/>
          <p:cNvSpPr txBox="1"/>
          <p:nvPr/>
        </p:nvSpPr>
        <p:spPr>
          <a:xfrm>
            <a:off x="848346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498485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/>
          <p:cNvSpPr txBox="1"/>
          <p:nvPr/>
        </p:nvSpPr>
        <p:spPr>
          <a:xfrm>
            <a:off x="1002593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993404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44012" y="1207279"/>
            <a:ext cx="44049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Kairix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内核的特色与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亮点：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4195" y="1934845"/>
            <a:ext cx="1060958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60000"/>
              </a:lnSpc>
            </a:pPr>
            <a:r>
              <a:rPr lang="zh-CN" altLang="en-US" sz="2000"/>
              <a:t>①</a:t>
            </a:r>
            <a:r>
              <a:rPr lang="en-US" altLang="zh-CN" sz="2000"/>
              <a:t> </a:t>
            </a:r>
            <a:r>
              <a:rPr lang="zh-CN" altLang="en-US" sz="2000"/>
              <a:t>同时兼容</a:t>
            </a:r>
            <a:r>
              <a:rPr lang="zh-CN" altLang="en-US" sz="2000" b="1"/>
              <a:t>双架构</a:t>
            </a:r>
            <a:r>
              <a:rPr lang="zh-CN" altLang="en-US" sz="2000"/>
              <a:t>，提升了内核在不同硬件平台上的适配能力</a:t>
            </a:r>
            <a:r>
              <a:rPr lang="en-US" altLang="zh-CN" sz="2000"/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实现了对于</a:t>
            </a:r>
            <a:r>
              <a:rPr lang="en-US" altLang="zh-CN" sz="2000" b="1" dirty="0">
                <a:ea typeface="+mn-lt"/>
                <a:cs typeface="+mn-lt"/>
                <a:sym typeface="+mn-ea"/>
              </a:rPr>
              <a:t>VisionFive2</a:t>
            </a:r>
            <a:r>
              <a:rPr lang="zh-CN" altLang="en-US" sz="2000" dirty="0">
                <a:ea typeface="+mn-lt"/>
                <a:cs typeface="+mn-lt"/>
                <a:sym typeface="+mn-ea"/>
              </a:rPr>
              <a:t>星光二</a:t>
            </a:r>
            <a:r>
              <a:rPr lang="en-US" altLang="zh-CN" sz="2000" dirty="0">
                <a:ea typeface="+mn-lt"/>
                <a:cs typeface="+mn-lt"/>
                <a:sym typeface="+mn-ea"/>
              </a:rPr>
              <a:t> </a:t>
            </a:r>
            <a:r>
              <a:rPr lang="zh-CN" altLang="en-US" sz="2000" dirty="0">
                <a:ea typeface="+mn-lt"/>
                <a:cs typeface="+mn-lt"/>
                <a:sym typeface="+mn-ea"/>
              </a:rPr>
              <a:t>代板和龙芯</a:t>
            </a:r>
            <a:r>
              <a:rPr lang="zh-CN" altLang="en-US" sz="2000" b="1" dirty="0">
                <a:ea typeface="+mn-lt"/>
                <a:cs typeface="+mn-lt"/>
                <a:sym typeface="+mn-ea"/>
              </a:rPr>
              <a:t>2</a:t>
            </a:r>
            <a:r>
              <a:rPr lang="en-US" altLang="zh-CN" sz="2000" b="1" dirty="0">
                <a:ea typeface="+mn-lt"/>
                <a:cs typeface="+mn-lt"/>
                <a:sym typeface="+mn-ea"/>
              </a:rPr>
              <a:t>k1000</a:t>
            </a:r>
            <a:r>
              <a:rPr lang="zh-CN" altLang="en-US" sz="2000" dirty="0">
                <a:ea typeface="+mn-lt"/>
                <a:cs typeface="+mn-lt"/>
                <a:sym typeface="+mn-ea"/>
              </a:rPr>
              <a:t>星云板的物理平台适配</a:t>
            </a:r>
            <a:endParaRPr lang="zh-CN" altLang="en-US" sz="2000"/>
          </a:p>
          <a:p>
            <a:pPr>
              <a:lnSpc>
                <a:spcPct val="160000"/>
              </a:lnSpc>
            </a:pPr>
            <a:r>
              <a:rPr lang="zh-CN" altLang="en-US" sz="2000">
                <a:sym typeface="+mn-ea"/>
              </a:rPr>
              <a:t>②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支持多核处理器运行，能够完成</a:t>
            </a:r>
            <a:r>
              <a:rPr lang="zh-CN" altLang="en-US" sz="2000" b="1">
                <a:sym typeface="+mn-ea"/>
              </a:rPr>
              <a:t>多处理器</a:t>
            </a:r>
            <a:r>
              <a:rPr lang="zh-CN" altLang="en-US" sz="2000">
                <a:sym typeface="+mn-ea"/>
              </a:rPr>
              <a:t>环境下的任务调度与</a:t>
            </a:r>
            <a:r>
              <a:rPr lang="zh-CN" altLang="en-US" sz="2000" b="1">
                <a:sym typeface="+mn-ea"/>
              </a:rPr>
              <a:t>并发</a:t>
            </a:r>
            <a:r>
              <a:rPr lang="zh-CN" altLang="en-US" sz="2000">
                <a:sym typeface="+mn-ea"/>
              </a:rPr>
              <a:t>执行提高执行效率</a:t>
            </a:r>
            <a:r>
              <a:rPr lang="en-US" altLang="zh-CN" sz="2000">
                <a:sym typeface="+mn-ea"/>
              </a:rPr>
              <a:t> </a:t>
            </a:r>
            <a:endParaRPr lang="zh-CN" altLang="en-US" sz="2000"/>
          </a:p>
          <a:p>
            <a:pPr>
              <a:lnSpc>
                <a:spcPct val="160000"/>
              </a:lnSpc>
            </a:pPr>
            <a:r>
              <a:rPr lang="zh-CN" altLang="en-US" sz="2000"/>
              <a:t>③</a:t>
            </a:r>
            <a:r>
              <a:rPr lang="en-US" altLang="zh-CN" sz="2000"/>
              <a:t> </a:t>
            </a:r>
            <a:r>
              <a:rPr lang="zh-CN" altLang="en-US" sz="2000" b="1"/>
              <a:t>从零开始搭建网络栈</a:t>
            </a:r>
            <a:r>
              <a:rPr lang="zh-CN" altLang="en-US" sz="2000"/>
              <a:t>，为上层应用提供基础网络通信支持。</a:t>
            </a:r>
            <a:endParaRPr lang="zh-CN" altLang="en-US" sz="2000"/>
          </a:p>
          <a:p>
            <a:pPr>
              <a:lnSpc>
                <a:spcPct val="160000"/>
              </a:lnSpc>
            </a:pPr>
            <a:r>
              <a:rPr lang="zh-CN" altLang="en-US" sz="2000">
                <a:sym typeface="+mn-ea"/>
              </a:rPr>
              <a:t>④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实现</a:t>
            </a:r>
            <a:r>
              <a:rPr lang="zh-CN" altLang="en-US" sz="2000" b="1">
                <a:sym typeface="+mn-ea"/>
              </a:rPr>
              <a:t> </a:t>
            </a:r>
            <a:r>
              <a:rPr lang="en-US" altLang="zh-CN" sz="2000" b="1">
                <a:sym typeface="+mn-ea"/>
              </a:rPr>
              <a:t>Per-CPU Slab </a:t>
            </a:r>
            <a:r>
              <a:rPr lang="zh-CN" altLang="en-US" sz="2000" b="1">
                <a:sym typeface="+mn-ea"/>
              </a:rPr>
              <a:t>内存分配器</a:t>
            </a:r>
            <a:r>
              <a:rPr lang="zh-CN" altLang="en-US" sz="2000">
                <a:sym typeface="+mn-ea"/>
              </a:rPr>
              <a:t>，提升多核场景下内核小对象分配效率。</a:t>
            </a:r>
            <a:endParaRPr lang="zh-CN" altLang="en-US" sz="2000">
              <a:sym typeface="+mn-ea"/>
            </a:endParaRPr>
          </a:p>
          <a:p>
            <a:pPr>
              <a:lnSpc>
                <a:spcPct val="160000"/>
              </a:lnSpc>
            </a:pPr>
            <a:r>
              <a:rPr lang="zh-CN" altLang="en-US" sz="2000">
                <a:sym typeface="+mn-ea"/>
              </a:rPr>
              <a:t>⑤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为 </a:t>
            </a:r>
            <a:r>
              <a:rPr lang="en-US" altLang="zh-CN" sz="2000">
                <a:sym typeface="+mn-ea"/>
              </a:rPr>
              <a:t>LoongArch</a:t>
            </a:r>
            <a:r>
              <a:rPr lang="en-US" altLang="zh-CN" sz="2000" b="1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非对齐跨页访存</a:t>
            </a:r>
            <a:r>
              <a:rPr lang="zh-CN" altLang="en-US" sz="2000">
                <a:sym typeface="+mn-ea"/>
              </a:rPr>
              <a:t>构建 </a:t>
            </a:r>
            <a:r>
              <a:rPr lang="en-US" altLang="zh-CN" sz="2000">
                <a:sym typeface="+mn-ea"/>
              </a:rPr>
              <a:t>exception table </a:t>
            </a:r>
            <a:r>
              <a:rPr lang="zh-CN" altLang="en-US" sz="2000" b="1">
                <a:sym typeface="+mn-ea"/>
              </a:rPr>
              <a:t>异常修复与统一缺页回传机制</a:t>
            </a:r>
            <a:r>
              <a:rPr lang="zh-CN" altLang="en-US" sz="2000">
                <a:sym typeface="+mn-ea"/>
              </a:rPr>
              <a:t>，使其能够安全接入虚拟内存缺页处理并支持原指令重试</a:t>
            </a:r>
            <a:endParaRPr lang="zh-CN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2877" y="962799"/>
            <a:ext cx="23876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多架构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b="1" smtClean="0">
                <a:solidFill>
                  <a:schemeClr val="tx1"/>
                </a:solidFill>
                <a:sym typeface="+mn-ea"/>
              </a:rPr>
            </a:fld>
            <a:endParaRPr lang="en-US" altLang="zh-CN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8585" y="1566545"/>
            <a:ext cx="982535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Kairix内核目前通过移植和修改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polyhal硬件抽象层实现了对RISC-V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和LoongArch两种指令集架构的支持。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具体而言，Kairix利用Rust语言的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条件编译机制，利用polyhal第三方库，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实现硬件抽象层屏蔽了不同架构的底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层差异。其核心设计理念是通过条件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编译实现对应架构代码的自动选择，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从而将不同架构硬件的功能抽象出来，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供内核统一使用。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619104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4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1"/>
          <p:cNvSpPr txBox="1"/>
          <p:nvPr/>
        </p:nvSpPr>
        <p:spPr>
          <a:xfrm>
            <a:off x="848346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498485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/>
          <p:cNvSpPr txBox="1"/>
          <p:nvPr/>
        </p:nvSpPr>
        <p:spPr>
          <a:xfrm>
            <a:off x="1002593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993404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双架构硬件抽象图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1995" y="1282065"/>
            <a:ext cx="7477760" cy="4540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b="1" smtClean="0">
                <a:solidFill>
                  <a:schemeClr val="tx1"/>
                </a:solidFill>
                <a:sym typeface="+mn-ea"/>
              </a:rPr>
            </a:fld>
            <a:endParaRPr lang="en-US" altLang="zh-CN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2877" y="1040904"/>
            <a:ext cx="20320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调度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8110" y="1614805"/>
            <a:ext cx="4958715" cy="563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为了确保任务调度之间的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公平性和优先级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Kairix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采用的方案是：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实时任务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严格优先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：调度器首先扫描实时队列，选择有效优先级最高且允许在当前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运行的任务；同一优先级内采用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方式调度。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普通任务按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MLFQ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层级扫描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：无合适实时任务时，从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Level 0（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最高）到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Level 3（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最低）逐级检查普通队列；同一层级内部同样采用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调度，默认新建任务进入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Level 1。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19104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848346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98485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7"/>
          <p:cNvSpPr txBox="1"/>
          <p:nvPr/>
        </p:nvSpPr>
        <p:spPr>
          <a:xfrm>
            <a:off x="1002593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993404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图片 73" descr="任务调度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6825" y="2258060"/>
            <a:ext cx="6968490" cy="3266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b="1" smtClean="0">
                <a:solidFill>
                  <a:schemeClr val="tx1"/>
                </a:solidFill>
                <a:sym typeface="+mn-ea"/>
              </a:rPr>
            </a:fld>
            <a:endParaRPr lang="en-US" altLang="zh-CN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2877" y="995184"/>
            <a:ext cx="20320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任务调度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7475" y="2584450"/>
            <a:ext cx="5259705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9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④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防止饥饿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的老化机制：任务在就绪队列等待达到本地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TaskManager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调度64次后，自动提升一个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MLFQ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层级；每次调度周期最多提升32个任务，以控制锁开销。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9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⑤ 入队时进行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负载均衡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任务分配仅在入队阶段执行，选择负载最低（就绪任务数+当前运行任务数）且满足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亲和性约束的候选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19104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848346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98485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7"/>
          <p:cNvSpPr txBox="1"/>
          <p:nvPr/>
        </p:nvSpPr>
        <p:spPr>
          <a:xfrm>
            <a:off x="1002593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993404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图片 73" descr="任务调度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7180" y="2903220"/>
            <a:ext cx="6603365" cy="30956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25095" y="1517015"/>
            <a:ext cx="10946130" cy="18973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9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动态反馈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调整优先级：普通任务耗尽当前层级时间片后降级到下一层级（时间片依次为2、4、8、16）；阻塞唤醒后提升一级，以奖励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I/O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密集型任务、平衡计算型与交互型任务。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b="1" smtClean="0">
                <a:solidFill>
                  <a:schemeClr val="tx1"/>
                </a:solidFill>
                <a:sym typeface="+mn-ea"/>
              </a:rPr>
            </a:fld>
            <a:endParaRPr lang="en-US" altLang="zh-CN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2877" y="1040904"/>
            <a:ext cx="20320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内存管理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2885" y="1664335"/>
            <a:ext cx="4268470" cy="479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内核动态内存采用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“Per-CPU Slab +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全局伙伴堆”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两级结构：小对象按2的幂划分为9个类别，优先从当前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的64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KiB Span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中分配，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内部使用位图管理，大幅降低多核锁竞争；大对象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则直接由全局伙伴堆处理，且堆支持动态扩展并限制占比，防止挤占用户内存。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70000"/>
              </a:lnSpc>
              <a:buFont typeface="Arial" panose="020B0604020202020204" pitchFamily="34" charset="0"/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619104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848346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98485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7"/>
          <p:cNvSpPr txBox="1"/>
          <p:nvPr/>
        </p:nvSpPr>
        <p:spPr>
          <a:xfrm>
            <a:off x="1002593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993404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 descr="内存堆架构图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9455" y="2085340"/>
            <a:ext cx="7662545" cy="4378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384810" y="2626995"/>
            <a:ext cx="5092700" cy="4765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2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Kairix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的网络模块是一个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从零开始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自主搭建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的轻量级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协议栈，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采用清晰的分层架构，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IPv4、ARP、ICMP、UDP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等核心协议，并提供了与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POSIX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兼容的套接字接口。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0" y="0"/>
            <a:ext cx="12192000" cy="791845"/>
            <a:chOff x="0" y="0"/>
            <a:chExt cx="19200" cy="1247"/>
          </a:xfrm>
        </p:grpSpPr>
        <p:sp>
          <p:nvSpPr>
            <p:cNvPr id="12" name="矩形 4"/>
            <p:cNvSpPr/>
            <p:nvPr/>
          </p:nvSpPr>
          <p:spPr>
            <a:xfrm>
              <a:off x="0" y="0"/>
              <a:ext cx="19200" cy="12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880"/>
            </a:p>
          </p:txBody>
        </p: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  <a14:imgEffect>
                        <a14:colorTemperature colorTemp="5988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" y="209"/>
              <a:ext cx="4720" cy="866"/>
            </a:xfrm>
            <a:prstGeom prst="rect">
              <a:avLst/>
            </a:prstGeom>
          </p:spPr>
        </p:pic>
      </p:grpSp>
      <p:sp>
        <p:nvSpPr>
          <p:cNvPr id="3" name="文本框 2"/>
          <p:cNvSpPr txBox="1"/>
          <p:nvPr/>
        </p:nvSpPr>
        <p:spPr>
          <a:xfrm>
            <a:off x="222877" y="1637169"/>
            <a:ext cx="20320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5432425" y="1288415"/>
            <a:ext cx="5930900" cy="518160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6619104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848346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98485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7"/>
          <p:cNvSpPr txBox="1"/>
          <p:nvPr/>
        </p:nvSpPr>
        <p:spPr>
          <a:xfrm>
            <a:off x="1002593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993404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10"/>
          <p:cNvSpPr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b="1" smtClean="0">
                <a:solidFill>
                  <a:schemeClr val="tx1"/>
                </a:solidFill>
                <a:sym typeface="+mn-ea"/>
              </a:rPr>
            </a:fld>
            <a:endParaRPr lang="en-US" altLang="zh-CN" b="1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0" y="0"/>
            <a:ext cx="12192000" cy="791845"/>
            <a:chOff x="0" y="0"/>
            <a:chExt cx="19200" cy="1247"/>
          </a:xfrm>
        </p:grpSpPr>
        <p:sp>
          <p:nvSpPr>
            <p:cNvPr id="12" name="矩形 4"/>
            <p:cNvSpPr/>
            <p:nvPr/>
          </p:nvSpPr>
          <p:spPr>
            <a:xfrm>
              <a:off x="0" y="0"/>
              <a:ext cx="19200" cy="12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880"/>
            </a:p>
          </p:txBody>
        </p: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  <a14:imgEffect>
                        <a14:colorTemperature colorTemp="5988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" y="209"/>
              <a:ext cx="4720" cy="866"/>
            </a:xfrm>
            <a:prstGeom prst="rect">
              <a:avLst/>
            </a:prstGeom>
          </p:spPr>
        </p:pic>
      </p:grpSp>
      <p:sp>
        <p:nvSpPr>
          <p:cNvPr id="3" name="文本框 2"/>
          <p:cNvSpPr txBox="1"/>
          <p:nvPr/>
        </p:nvSpPr>
        <p:spPr>
          <a:xfrm>
            <a:off x="222877" y="1111389"/>
            <a:ext cx="20320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异常处理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619104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5076749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67785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848346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98485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7"/>
          <p:cNvSpPr txBox="1"/>
          <p:nvPr/>
        </p:nvSpPr>
        <p:spPr>
          <a:xfrm>
            <a:off x="1002593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993404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10"/>
          <p:cNvSpPr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b="1" smtClean="0">
                <a:solidFill>
                  <a:schemeClr val="tx1"/>
                </a:solidFill>
                <a:sym typeface="+mn-ea"/>
              </a:rPr>
            </a:fld>
            <a:endParaRPr lang="en-US" altLang="zh-CN" b="1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5" name="图片 14" descr="loongarch-cross-page-unaligned-flow-ppt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762" b="17005"/>
          <a:stretch>
            <a:fillRect/>
          </a:stretch>
        </p:blipFill>
        <p:spPr>
          <a:xfrm>
            <a:off x="4718685" y="2014855"/>
            <a:ext cx="7331710" cy="352044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22250" y="1824355"/>
            <a:ext cx="4497070" cy="4531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使用非对齐访存模拟，以字节为单位处理非对齐访存，我们补全了内核态异常fixup机制，将非对齐访存模拟的错误处理由panic改为返回统一的LoadPageFault或StorePageFault。当字节模拟访问尚未映射的相邻页时，内层异常通过 fixup 安全返回，获取真实缺页地址，再交由上层异常处理完成缺页处理程序。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  <a14:imgEffect>
                      <a14:colorTemperature colorTemp="59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" y="132991"/>
            <a:ext cx="2997105" cy="550154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b="1" smtClean="0">
                <a:solidFill>
                  <a:schemeClr val="tx1"/>
                </a:solidFill>
                <a:sym typeface="+mn-ea"/>
              </a:rPr>
            </a:fld>
            <a:endParaRPr lang="en-US" altLang="zh-CN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59965" y="3190240"/>
            <a:ext cx="741045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Kairix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29159" y="127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13884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9"/>
          <p:cNvSpPr txBox="1"/>
          <p:nvPr/>
        </p:nvSpPr>
        <p:spPr>
          <a:xfrm>
            <a:off x="6778549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1"/>
          <p:cNvSpPr txBox="1"/>
          <p:nvPr/>
        </p:nvSpPr>
        <p:spPr>
          <a:xfrm>
            <a:off x="848346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488706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/>
          <p:cNvSpPr txBox="1"/>
          <p:nvPr/>
        </p:nvSpPr>
        <p:spPr>
          <a:xfrm>
            <a:off x="1005387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6515842" y="25568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b="1" smtClean="0">
                <a:solidFill>
                  <a:schemeClr val="tx1"/>
                </a:solidFill>
                <a:sym typeface="+mn-ea"/>
              </a:rPr>
            </a:fld>
            <a:endParaRPr lang="en-US" altLang="zh-CN" b="1" dirty="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1373"/>
            <a:ext cx="12192000" cy="792000"/>
            <a:chOff x="0" y="0"/>
            <a:chExt cx="12192000" cy="792000"/>
          </a:xfrm>
        </p:grpSpPr>
        <p:sp>
          <p:nvSpPr>
            <p:cNvPr id="8" name="矩形 4"/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 dirty="0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  <a14:imgEffect>
                        <a14:colorTemperature colorTemp="5988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373" y="132991"/>
              <a:ext cx="2997105" cy="550154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297180" y="2041525"/>
            <a:ext cx="11366500" cy="4679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2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辅助阅读代码：用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梳理既有代码和规范，获取概要后再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人工自顶向下精读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，对存疑处追问并验证。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生成重复性代码：对结构固定的代码，人工编写示例后让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批量扩展，但涉及具体语义的部分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仍需人工补充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 辅助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Debug：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结合日志和现象，让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提示可能的问题位置以缩小排查范围，最终由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人工调试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④ 生成测试内容：用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快速生成针对各类场景的测试程序，覆盖边界情况，但需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人工审查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是否符合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语义。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⑤ 辅助文档润色：人工完成初稿后，用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润色表达，团队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采纳，以保语言质量且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保留自身思考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7172" y="1264424"/>
            <a:ext cx="4125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 algn="l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工具的主要使用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场景：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329159" y="127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013884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9"/>
          <p:cNvSpPr txBox="1"/>
          <p:nvPr/>
        </p:nvSpPr>
        <p:spPr>
          <a:xfrm>
            <a:off x="6778549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1"/>
          <p:cNvSpPr txBox="1"/>
          <p:nvPr/>
        </p:nvSpPr>
        <p:spPr>
          <a:xfrm>
            <a:off x="848346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488706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/>
          <p:cNvSpPr txBox="1"/>
          <p:nvPr/>
        </p:nvSpPr>
        <p:spPr>
          <a:xfrm>
            <a:off x="1005387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6515842" y="25568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b="1" smtClean="0">
                <a:solidFill>
                  <a:schemeClr val="tx1"/>
                </a:solidFill>
                <a:sym typeface="+mn-ea"/>
              </a:rPr>
            </a:fld>
            <a:endParaRPr lang="en-US" altLang="zh-CN" b="1" dirty="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1373"/>
            <a:ext cx="12192000" cy="792000"/>
            <a:chOff x="0" y="0"/>
            <a:chExt cx="12192000" cy="792000"/>
          </a:xfrm>
        </p:grpSpPr>
        <p:sp>
          <p:nvSpPr>
            <p:cNvPr id="8" name="矩形 4"/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 dirty="0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  <a14:imgEffect>
                        <a14:colorTemperature colorTemp="5988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373" y="132991"/>
              <a:ext cx="2997105" cy="550154"/>
            </a:xfrm>
            <a:prstGeom prst="rect">
              <a:avLst/>
            </a:prstGeom>
          </p:spPr>
        </p:pic>
      </p:grpSp>
      <p:sp>
        <p:nvSpPr>
          <p:cNvPr id="17" name="文本框 16"/>
          <p:cNvSpPr txBox="1"/>
          <p:nvPr/>
        </p:nvSpPr>
        <p:spPr>
          <a:xfrm>
            <a:off x="2722521" y="3044279"/>
            <a:ext cx="633113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内核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888084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7"/>
          <p:cNvSpPr txBox="1"/>
          <p:nvPr/>
        </p:nvSpPr>
        <p:spPr>
          <a:xfrm>
            <a:off x="5013884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6778549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11"/>
          <p:cNvSpPr txBox="1"/>
          <p:nvPr/>
        </p:nvSpPr>
        <p:spPr>
          <a:xfrm>
            <a:off x="848346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488706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7"/>
          <p:cNvSpPr txBox="1"/>
          <p:nvPr/>
        </p:nvSpPr>
        <p:spPr>
          <a:xfrm>
            <a:off x="1002593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6515842" y="25568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382742" y="25568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2877" y="1040904"/>
            <a:ext cx="3027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 algn="l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参考的优秀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内核：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4046" y="1811655"/>
            <a:ext cx="10585178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chemeClr val="tx1"/>
                </a:solidFill>
              </a:rPr>
              <a:t>• TitanixOS: no_std </a:t>
            </a:r>
            <a:r>
              <a:rPr lang="zh-CN" altLang="en-US" sz="2000" b="1" dirty="0" err="1">
                <a:solidFill>
                  <a:schemeClr val="tx1"/>
                </a:solidFill>
              </a:rPr>
              <a:t>锁 </a:t>
            </a:r>
            <a:endParaRPr lang="zh-CN" altLang="en-US" sz="2000" b="1" dirty="0" err="1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ym typeface="+mn-ea"/>
              </a:rPr>
              <a:t>• </a:t>
            </a:r>
            <a:r>
              <a:rPr lang="en-US" altLang="zh-CN" sz="2000" b="1" dirty="0" err="1">
                <a:solidFill>
                  <a:schemeClr val="tx1"/>
                </a:solidFill>
              </a:rPr>
              <a:t>rCore: </a:t>
            </a:r>
            <a:r>
              <a:rPr lang="zh-CN" altLang="en-US" sz="2000" b="1" dirty="0" err="1">
                <a:solidFill>
                  <a:schemeClr val="tx1"/>
                </a:solidFill>
              </a:rPr>
              <a:t>用户态程序 </a:t>
            </a:r>
            <a:endParaRPr lang="zh-CN" altLang="en-US" sz="2000" b="1" dirty="0" err="1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ym typeface="+mn-ea"/>
              </a:rPr>
              <a:t>• </a:t>
            </a:r>
            <a:r>
              <a:rPr lang="en-US" altLang="zh-CN" sz="2000" b="1" dirty="0" err="1">
                <a:solidFill>
                  <a:schemeClr val="tx1"/>
                </a:solidFill>
              </a:rPr>
              <a:t>Polyhal、DelOn1x: </a:t>
            </a:r>
            <a:r>
              <a:rPr lang="zh-CN" altLang="en-US" sz="2000" b="1" dirty="0" err="1">
                <a:solidFill>
                  <a:schemeClr val="tx1"/>
                </a:solidFill>
              </a:rPr>
              <a:t>多架构设计 </a:t>
            </a:r>
            <a:endParaRPr lang="zh-CN" altLang="en-US" sz="2000" b="1" dirty="0" err="1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ym typeface="+mn-ea"/>
              </a:rPr>
              <a:t>• </a:t>
            </a:r>
            <a:r>
              <a:rPr lang="en-US" altLang="zh-CN" sz="2000" b="1" dirty="0" err="1">
                <a:solidFill>
                  <a:schemeClr val="tx1"/>
                </a:solidFill>
              </a:rPr>
              <a:t>PhoenixOS、Chronix、NighthawkOS: </a:t>
            </a:r>
            <a:r>
              <a:rPr lang="zh-CN" altLang="en-US" sz="2000" b="1" dirty="0" err="1">
                <a:solidFill>
                  <a:schemeClr val="tx1"/>
                </a:solidFill>
              </a:rPr>
              <a:t>设计文档</a:t>
            </a:r>
            <a:endParaRPr lang="zh-CN" altLang="en-US" sz="2000" b="1" dirty="0" err="1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ym typeface="+mn-ea"/>
              </a:rPr>
              <a:t>• </a:t>
            </a:r>
            <a:r>
              <a:rPr lang="en-US" altLang="zh-CN" sz="2000" b="1" dirty="0" err="1">
                <a:solidFill>
                  <a:schemeClr val="tx1"/>
                </a:solidFill>
              </a:rPr>
              <a:t>Chronix: </a:t>
            </a:r>
            <a:r>
              <a:rPr lang="zh-CN" altLang="en-US" sz="2000" b="1" dirty="0" err="1">
                <a:solidFill>
                  <a:schemeClr val="tx1"/>
                </a:solidFill>
              </a:rPr>
              <a:t>文件系统架构思路</a:t>
            </a:r>
            <a:endParaRPr lang="zh-CN" altLang="en-US" sz="2000" b="1" dirty="0" err="1">
              <a:solidFill>
                <a:schemeClr val="tx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b="1" smtClean="0">
                <a:solidFill>
                  <a:schemeClr val="tx1"/>
                </a:solidFill>
                <a:sym typeface="+mn-ea"/>
              </a:rPr>
            </a:fld>
            <a:endParaRPr lang="en-US" altLang="zh-CN" b="1" dirty="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103"/>
            <a:ext cx="12192000" cy="792000"/>
            <a:chOff x="0" y="0"/>
            <a:chExt cx="12192000" cy="792000"/>
          </a:xfrm>
        </p:grpSpPr>
        <p:sp>
          <p:nvSpPr>
            <p:cNvPr id="8" name="矩形 4"/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5400000" algn="t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80" dirty="0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  <a14:imgEffect>
                        <a14:colorTemperature colorTemp="5988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373" y="132991"/>
              <a:ext cx="2997105" cy="550154"/>
            </a:xfrm>
            <a:prstGeom prst="rect">
              <a:avLst/>
            </a:prstGeom>
          </p:spPr>
        </p:pic>
      </p:grpSp>
      <p:sp>
        <p:nvSpPr>
          <p:cNvPr id="24" name="矩形 23"/>
          <p:cNvSpPr/>
          <p:nvPr/>
        </p:nvSpPr>
        <p:spPr>
          <a:xfrm>
            <a:off x="9888084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374949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完成情况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013884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开发历程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9"/>
          <p:cNvSpPr txBox="1"/>
          <p:nvPr/>
        </p:nvSpPr>
        <p:spPr>
          <a:xfrm>
            <a:off x="6778549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1"/>
          <p:cNvSpPr txBox="1"/>
          <p:nvPr/>
        </p:nvSpPr>
        <p:spPr>
          <a:xfrm>
            <a:off x="848346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4887067" y="26457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/>
          <p:cNvSpPr txBox="1"/>
          <p:nvPr/>
        </p:nvSpPr>
        <p:spPr>
          <a:xfrm>
            <a:off x="10025939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比赛总结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6515842" y="25568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382742" y="25568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/>
          <p:cNvPicPr/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03219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/>
          <p:cNvPicPr/>
          <p:nvPr>
            <p:custDataLst>
              <p:tags r:id="rId3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127232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2204967"/>
            <a:ext cx="12192000" cy="28613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64073" y="3109420"/>
            <a:ext cx="1086282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  <a:endParaRPr lang="zh-CN" altLang="en-US" sz="44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hitsz-logo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89555" y="603250"/>
            <a:ext cx="6612255" cy="121856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b="1" smtClean="0">
                <a:solidFill>
                  <a:schemeClr val="tx1"/>
                </a:solidFill>
                <a:sym typeface="+mn-ea"/>
              </a:rPr>
            </a:fld>
            <a:endParaRPr lang="en-US" altLang="zh-CN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69524" y="5388570"/>
            <a:ext cx="645227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3A6695"/>
                </a:solidFill>
              </a:rPr>
              <a:t>队员：颜晨、雷鑫言、</a:t>
            </a:r>
            <a:r>
              <a:rPr lang="zh-CN" altLang="en-US" b="1" dirty="0">
                <a:solidFill>
                  <a:srgbClr val="3A6695"/>
                </a:solidFill>
              </a:rPr>
              <a:t>萧鹏   指导老师：夏文、仇洁婷</a:t>
            </a:r>
            <a:endParaRPr lang="zh-CN" altLang="en-US" b="1" dirty="0">
              <a:solidFill>
                <a:srgbClr val="3A6695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51121191650"/>
  <p:tag name="MH_LIBRARY" val="GRAPHIC"/>
  <p:tag name="MH_TYPE" val="Other"/>
  <p:tag name="MH_ORDER" val="8"/>
</p:tagLst>
</file>

<file path=ppt/tags/tag2.xml><?xml version="1.0" encoding="utf-8"?>
<p:tagLst xmlns:p="http://schemas.openxmlformats.org/presentationml/2006/main">
  <p:tag name="MH" val="20151121191650"/>
  <p:tag name="MH_LIBRARY" val="GRAPHIC"/>
  <p:tag name="MH_TYPE" val="Other"/>
  <p:tag name="MH_ORDER" val="8"/>
</p:tagLst>
</file>

<file path=ppt/tags/tag3.xml><?xml version="1.0" encoding="utf-8"?>
<p:tagLst xmlns:p="http://schemas.openxmlformats.org/presentationml/2006/main">
  <p:tag name="TABLE_ENDDRAG_ORIGIN_RECT" val="530*421"/>
  <p:tag name="TABLE_ENDDRAG_RECT" val="406*108*530*421"/>
</p:tagLst>
</file>

<file path=ppt/tags/tag4.xml><?xml version="1.0" encoding="utf-8"?>
<p:tagLst xmlns:p="http://schemas.openxmlformats.org/presentationml/2006/main">
  <p:tag name="MH" val="20151121191650"/>
  <p:tag name="MH_LIBRARY" val="GRAPHIC"/>
  <p:tag name="MH_TYPE" val="Other"/>
  <p:tag name="MH_ORDER" val="8"/>
</p:tagLst>
</file>

<file path=ppt/tags/tag5.xml><?xml version="1.0" encoding="utf-8"?>
<p:tagLst xmlns:p="http://schemas.openxmlformats.org/presentationml/2006/main">
  <p:tag name="MH" val="20151121191650"/>
  <p:tag name="MH_LIBRARY" val="GRAPHIC"/>
  <p:tag name="MH_TYPE" val="Other"/>
  <p:tag name="MH_ORDER" val="8"/>
</p:tagLst>
</file>

<file path=ppt/theme/theme1.xml><?xml version="1.0" encoding="utf-8"?>
<a:theme xmlns:a="http://schemas.openxmlformats.org/drawingml/2006/main" name="Office 主题​​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3026</Words>
  <Application>WPS 演示</Application>
  <PresentationFormat>宽屏</PresentationFormat>
  <Paragraphs>415</Paragraphs>
  <Slides>21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.</cp:lastModifiedBy>
  <cp:revision>101</cp:revision>
  <dcterms:created xsi:type="dcterms:W3CDTF">2025-08-20T21:13:00Z</dcterms:created>
  <dcterms:modified xsi:type="dcterms:W3CDTF">2026-08-16T11:43:03Z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/>
  </property>
</Properties>
</file>